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1"/>
  </p:notesMasterIdLst>
  <p:sldIdLst>
    <p:sldId id="256" r:id="rId2"/>
    <p:sldId id="292" r:id="rId3"/>
    <p:sldId id="340" r:id="rId4"/>
    <p:sldId id="353" r:id="rId5"/>
    <p:sldId id="354" r:id="rId6"/>
    <p:sldId id="294" r:id="rId7"/>
    <p:sldId id="357" r:id="rId8"/>
    <p:sldId id="295" r:id="rId9"/>
    <p:sldId id="341" r:id="rId10"/>
    <p:sldId id="296" r:id="rId11"/>
    <p:sldId id="297" r:id="rId12"/>
    <p:sldId id="298" r:id="rId13"/>
    <p:sldId id="299" r:id="rId14"/>
    <p:sldId id="300" r:id="rId15"/>
    <p:sldId id="342" r:id="rId16"/>
    <p:sldId id="343" r:id="rId17"/>
    <p:sldId id="344" r:id="rId18"/>
    <p:sldId id="345" r:id="rId19"/>
    <p:sldId id="346" r:id="rId20"/>
    <p:sldId id="348" r:id="rId21"/>
    <p:sldId id="349" r:id="rId22"/>
    <p:sldId id="356" r:id="rId23"/>
    <p:sldId id="350" r:id="rId24"/>
    <p:sldId id="351" r:id="rId25"/>
    <p:sldId id="352" r:id="rId26"/>
    <p:sldId id="358" r:id="rId27"/>
    <p:sldId id="359" r:id="rId28"/>
    <p:sldId id="360" r:id="rId29"/>
    <p:sldId id="318" r:id="rId3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BCBF"/>
    <a:srgbClr val="4899FA"/>
    <a:srgbClr val="2384AF"/>
    <a:srgbClr val="A6A6A6"/>
    <a:srgbClr val="FB3919"/>
    <a:srgbClr val="9DB4E7"/>
    <a:srgbClr val="F29B4C"/>
    <a:srgbClr val="0772F3"/>
    <a:srgbClr val="0554B3"/>
    <a:srgbClr val="EEE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98" autoAdjust="0"/>
    <p:restoredTop sz="94660"/>
  </p:normalViewPr>
  <p:slideViewPr>
    <p:cSldViewPr snapToGrid="0">
      <p:cViewPr varScale="1">
        <p:scale>
          <a:sx n="73" d="100"/>
          <a:sy n="73" d="100"/>
        </p:scale>
        <p:origin x="6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63813-9840-4FC1-9D75-19457ED5CD50}" type="datetimeFigureOut">
              <a:rPr lang="en-IN" smtClean="0"/>
              <a:t>28-02-2020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C7C18-429B-4D95-987C-363AEA7C5E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712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C7C18-429B-4D95-987C-363AEA7C5E21}" type="slidenum">
              <a:rPr lang="en-IN" smtClean="0"/>
              <a:t>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490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0"/>
          <p:cNvSpPr/>
          <p:nvPr userDrawn="1"/>
        </p:nvSpPr>
        <p:spPr>
          <a:xfrm>
            <a:off x="10059311" y="877033"/>
            <a:ext cx="1732400" cy="577200"/>
          </a:xfrm>
          <a:prstGeom prst="triangle">
            <a:avLst>
              <a:gd name="adj" fmla="val 32425"/>
            </a:avLst>
          </a:prstGeom>
          <a:solidFill>
            <a:srgbClr val="352E1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9" name="Shape 11"/>
          <p:cNvGrpSpPr/>
          <p:nvPr userDrawn="1"/>
        </p:nvGrpSpPr>
        <p:grpSpPr>
          <a:xfrm>
            <a:off x="1" y="-9451"/>
            <a:ext cx="11548531" cy="6867451"/>
            <a:chOff x="0" y="-7088"/>
            <a:chExt cx="8661398" cy="5150588"/>
          </a:xfrm>
          <a:solidFill>
            <a:schemeClr val="bg1">
              <a:lumMod val="95000"/>
            </a:schemeClr>
          </a:solidFill>
        </p:grpSpPr>
        <p:sp>
          <p:nvSpPr>
            <p:cNvPr id="20" name="Shape 1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Roboto Condensed" pitchFamily="2" charset="0"/>
              </a:endParaRPr>
            </a:p>
          </p:txBody>
        </p:sp>
        <p:sp>
          <p:nvSpPr>
            <p:cNvPr id="21" name="Shape 1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2" name="Shape 14"/>
          <p:cNvGrpSpPr/>
          <p:nvPr/>
        </p:nvGrpSpPr>
        <p:grpSpPr>
          <a:xfrm rot="10800000" flipH="1">
            <a:off x="3" y="1454351"/>
            <a:ext cx="11796669" cy="3949300"/>
            <a:chOff x="-8178042" y="-4493254"/>
            <a:chExt cx="19483598" cy="6522736"/>
          </a:xfrm>
          <a:solidFill>
            <a:srgbClr val="F29B4C"/>
          </a:solidFill>
        </p:grpSpPr>
        <p:sp>
          <p:nvSpPr>
            <p:cNvPr id="23" name="Shape 15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23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24" name="Shape 16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23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5" name="Shape 17"/>
          <p:cNvGrpSpPr/>
          <p:nvPr/>
        </p:nvGrpSpPr>
        <p:grpSpPr>
          <a:xfrm>
            <a:off x="4902983" y="5704465"/>
            <a:ext cx="7307772" cy="577328"/>
            <a:chOff x="5582265" y="4646738"/>
            <a:chExt cx="5480829" cy="432996"/>
          </a:xfrm>
          <a:solidFill>
            <a:srgbClr val="2384AF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26" name="Shape 18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grpFill/>
            <a:ln>
              <a:noFill/>
            </a:ln>
            <a:effectLst/>
            <a:sp3d>
              <a:bevelT w="139700" h="139700"/>
            </a:sp3d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Roboto Condensed" pitchFamily="2" charset="0"/>
              </a:endParaRPr>
            </a:p>
          </p:txBody>
        </p:sp>
        <p:grpSp>
          <p:nvGrpSpPr>
            <p:cNvPr id="27" name="Shape 19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  <a:grpFill/>
          </p:grpSpPr>
          <p:sp>
            <p:nvSpPr>
              <p:cNvPr id="28" name="Shape 20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Roboto Condensed" pitchFamily="2" charset="0"/>
                </a:endParaRPr>
              </a:p>
            </p:txBody>
          </p:sp>
          <p:sp>
            <p:nvSpPr>
              <p:cNvPr id="29" name="Shape 21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Roboto Condensed" pitchFamily="2" charset="0"/>
                </a:endParaRPr>
              </a:p>
            </p:txBody>
          </p:sp>
        </p:grpSp>
      </p:grpSp>
      <p:sp>
        <p:nvSpPr>
          <p:cNvPr id="30" name="Shape 22"/>
          <p:cNvSpPr txBox="1">
            <a:spLocks noGrp="1"/>
          </p:cNvSpPr>
          <p:nvPr>
            <p:ph type="ctrTitle"/>
          </p:nvPr>
        </p:nvSpPr>
        <p:spPr>
          <a:xfrm>
            <a:off x="241139" y="1454235"/>
            <a:ext cx="11550573" cy="288161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2" name="Shape 40"/>
          <p:cNvSpPr txBox="1">
            <a:spLocks noGrp="1"/>
          </p:cNvSpPr>
          <p:nvPr>
            <p:ph type="subTitle" idx="1"/>
          </p:nvPr>
        </p:nvSpPr>
        <p:spPr>
          <a:xfrm>
            <a:off x="241139" y="4386079"/>
            <a:ext cx="8637823" cy="1017492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defRPr>
            </a:lvl1pPr>
            <a:lvl2pPr lvl="1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2pPr>
            <a:lvl3pPr lvl="2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3pPr>
            <a:lvl4pPr lvl="3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4pPr>
            <a:lvl5pPr lvl="4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5pPr>
            <a:lvl6pPr lvl="5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6pPr>
            <a:lvl7pPr lvl="6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7pPr>
            <a:lvl8pPr lvl="7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8pPr>
            <a:lvl9pPr lvl="8" rtl="0">
              <a:spcBef>
                <a:spcPts val="1333"/>
              </a:spcBef>
              <a:spcAft>
                <a:spcPts val="1333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39" y="-195"/>
            <a:ext cx="4840795" cy="12190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360" y="6155455"/>
            <a:ext cx="2807260" cy="69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4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-3563" y="-9451"/>
            <a:ext cx="11552092" cy="6886805"/>
            <a:chOff x="-3563" y="-9451"/>
            <a:chExt cx="11552092" cy="6886805"/>
          </a:xfrm>
          <a:solidFill>
            <a:schemeClr val="bg1">
              <a:lumMod val="95000"/>
            </a:schemeClr>
          </a:solidFill>
        </p:grpSpPr>
        <p:sp>
          <p:nvSpPr>
            <p:cNvPr id="6" name="Shape 26"/>
            <p:cNvSpPr/>
            <p:nvPr/>
          </p:nvSpPr>
          <p:spPr>
            <a:xfrm>
              <a:off x="-3563" y="-9451"/>
              <a:ext cx="4703563" cy="688680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  <p:sp>
          <p:nvSpPr>
            <p:cNvPr id="7" name="Shape 27"/>
            <p:cNvSpPr/>
            <p:nvPr/>
          </p:nvSpPr>
          <p:spPr>
            <a:xfrm rot="10800000" flipH="1">
              <a:off x="4690529" y="-9451"/>
              <a:ext cx="6858000" cy="68580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4" name="Shape 24"/>
          <p:cNvSpPr/>
          <p:nvPr/>
        </p:nvSpPr>
        <p:spPr>
          <a:xfrm>
            <a:off x="7596285" y="3514025"/>
            <a:ext cx="1185600" cy="395200"/>
          </a:xfrm>
          <a:prstGeom prst="triangle">
            <a:avLst>
              <a:gd name="adj" fmla="val 32425"/>
            </a:avLst>
          </a:prstGeom>
          <a:solidFill>
            <a:srgbClr val="352E1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914332"/>
            <a:endParaRPr sz="1800" dirty="0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-1" y="3899768"/>
            <a:ext cx="8785449" cy="2703024"/>
            <a:chOff x="-2" y="3899768"/>
            <a:chExt cx="8785449" cy="2703024"/>
          </a:xfrm>
          <a:solidFill>
            <a:srgbClr val="F29B4C"/>
          </a:solidFill>
        </p:grpSpPr>
        <p:sp>
          <p:nvSpPr>
            <p:cNvPr id="9" name="Shape 29"/>
            <p:cNvSpPr/>
            <p:nvPr userDrawn="1"/>
          </p:nvSpPr>
          <p:spPr>
            <a:xfrm rot="10800000" flipH="1">
              <a:off x="-2" y="3899768"/>
              <a:ext cx="6085589" cy="2702966"/>
            </a:xfrm>
            <a:prstGeom prst="rect">
              <a:avLst/>
            </a:prstGeom>
            <a:solidFill>
              <a:srgbClr val="23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0" name="Shape 30"/>
            <p:cNvSpPr/>
            <p:nvPr userDrawn="1"/>
          </p:nvSpPr>
          <p:spPr>
            <a:xfrm rot="10800000" flipH="1">
              <a:off x="6082481" y="3899826"/>
              <a:ext cx="2702966" cy="2702966"/>
            </a:xfrm>
            <a:prstGeom prst="rtTriangle">
              <a:avLst/>
            </a:prstGeom>
            <a:solidFill>
              <a:srgbClr val="23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1" name="Shape 33"/>
          <p:cNvGrpSpPr/>
          <p:nvPr userDrawn="1"/>
        </p:nvGrpSpPr>
        <p:grpSpPr>
          <a:xfrm flipH="1">
            <a:off x="9470886" y="6227588"/>
            <a:ext cx="2721116" cy="630414"/>
            <a:chOff x="1297957" y="330078"/>
            <a:chExt cx="5169293" cy="1197896"/>
          </a:xfrm>
          <a:solidFill>
            <a:schemeClr val="bg1">
              <a:lumMod val="95000"/>
            </a:schemeClr>
          </a:solidFill>
        </p:grpSpPr>
        <p:sp>
          <p:nvSpPr>
            <p:cNvPr id="12" name="Shape 34"/>
            <p:cNvSpPr/>
            <p:nvPr/>
          </p:nvSpPr>
          <p:spPr>
            <a:xfrm>
              <a:off x="1297957" y="330083"/>
              <a:ext cx="3476700" cy="11978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  <p:sp>
          <p:nvSpPr>
            <p:cNvPr id="13" name="Shape 35"/>
            <p:cNvSpPr/>
            <p:nvPr/>
          </p:nvSpPr>
          <p:spPr>
            <a:xfrm>
              <a:off x="4767749" y="330078"/>
              <a:ext cx="1699501" cy="1197896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</p:grpSp>
      <p:grpSp>
        <p:nvGrpSpPr>
          <p:cNvPr id="14" name="Shape 36"/>
          <p:cNvGrpSpPr/>
          <p:nvPr userDrawn="1"/>
        </p:nvGrpSpPr>
        <p:grpSpPr>
          <a:xfrm flipH="1">
            <a:off x="9235529" y="6451918"/>
            <a:ext cx="2933151" cy="406084"/>
            <a:chOff x="-5827153" y="330075"/>
            <a:chExt cx="12276019" cy="1699569"/>
          </a:xfrm>
          <a:solidFill>
            <a:srgbClr val="2384AF"/>
          </a:solidFill>
        </p:grpSpPr>
        <p:sp>
          <p:nvSpPr>
            <p:cNvPr id="15" name="Shape 37"/>
            <p:cNvSpPr/>
            <p:nvPr/>
          </p:nvSpPr>
          <p:spPr>
            <a:xfrm>
              <a:off x="-5827153" y="330144"/>
              <a:ext cx="1061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  <p:sp>
          <p:nvSpPr>
            <p:cNvPr id="16" name="Shape 38"/>
            <p:cNvSpPr/>
            <p:nvPr/>
          </p:nvSpPr>
          <p:spPr>
            <a:xfrm>
              <a:off x="4749366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</p:grpSp>
      <p:sp>
        <p:nvSpPr>
          <p:cNvPr id="17" name="Shape 39"/>
          <p:cNvSpPr txBox="1">
            <a:spLocks noGrp="1"/>
          </p:cNvSpPr>
          <p:nvPr userDrawn="1">
            <p:ph type="ctrTitle"/>
          </p:nvPr>
        </p:nvSpPr>
        <p:spPr>
          <a:xfrm>
            <a:off x="114872" y="3828197"/>
            <a:ext cx="7877661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8" name="Shape 40"/>
          <p:cNvSpPr txBox="1">
            <a:spLocks noGrp="1"/>
          </p:cNvSpPr>
          <p:nvPr userDrawn="1">
            <p:ph type="subTitle" idx="1"/>
          </p:nvPr>
        </p:nvSpPr>
        <p:spPr>
          <a:xfrm>
            <a:off x="114872" y="5300599"/>
            <a:ext cx="6673008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chemeClr val="tx1"/>
                </a:solidFill>
                <a:latin typeface="Roboto Condensed" pitchFamily="2" charset="0"/>
                <a:ea typeface="Roboto Condensed" pitchFamily="2" charset="0"/>
              </a:defRPr>
            </a:lvl1pPr>
            <a:lvl2pPr lvl="1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2pPr>
            <a:lvl3pPr lvl="2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3pPr>
            <a:lvl4pPr lvl="3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4pPr>
            <a:lvl5pPr lvl="4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5pPr>
            <a:lvl6pPr lvl="5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6pPr>
            <a:lvl7pPr lvl="6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7pPr>
            <a:lvl8pPr lvl="7" rtl="0">
              <a:spcBef>
                <a:spcPts val="1333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8pPr>
            <a:lvl9pPr lvl="8" rtl="0">
              <a:spcBef>
                <a:spcPts val="1333"/>
              </a:spcBef>
              <a:spcAft>
                <a:spcPts val="1333"/>
              </a:spcAft>
              <a:buClr>
                <a:srgbClr val="FF9800"/>
              </a:buClr>
              <a:buSzPts val="2000"/>
              <a:buNone/>
              <a:defRPr sz="2667">
                <a:solidFill>
                  <a:srgbClr val="FF9800"/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19" name="Google Shape;163;p10"/>
          <p:cNvSpPr txBox="1">
            <a:spLocks noGrp="1"/>
          </p:cNvSpPr>
          <p:nvPr userDrawn="1">
            <p:ph type="sldNum" idx="4"/>
          </p:nvPr>
        </p:nvSpPr>
        <p:spPr>
          <a:xfrm>
            <a:off x="11241511" y="6461580"/>
            <a:ext cx="806636" cy="4157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867" b="1"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5FE59A5-F4B4-47F3-8C4B-BD6C0C97D865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39" y="-195"/>
            <a:ext cx="4840795" cy="12190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309" y="5105772"/>
            <a:ext cx="4410691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7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64;p5"/>
          <p:cNvGrpSpPr/>
          <p:nvPr userDrawn="1"/>
        </p:nvGrpSpPr>
        <p:grpSpPr>
          <a:xfrm rot="10800000" flipH="1">
            <a:off x="8" y="-5244"/>
            <a:ext cx="6730415" cy="809783"/>
            <a:chOff x="-2168138" y="330076"/>
            <a:chExt cx="8650663" cy="1211718"/>
          </a:xfrm>
          <a:solidFill>
            <a:schemeClr val="bg1">
              <a:lumMod val="95000"/>
            </a:schemeClr>
          </a:solidFill>
        </p:grpSpPr>
        <p:sp>
          <p:nvSpPr>
            <p:cNvPr id="9" name="Google Shape;65;p5"/>
            <p:cNvSpPr/>
            <p:nvPr userDrawn="1"/>
          </p:nvSpPr>
          <p:spPr>
            <a:xfrm>
              <a:off x="-2168138" y="330082"/>
              <a:ext cx="6958200" cy="1211709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>
                <a:buClr>
                  <a:srgbClr val="000000"/>
                </a:buClr>
                <a:buFont typeface="Arial"/>
                <a:buNone/>
              </a:pPr>
              <a:endParaRPr sz="1867" kern="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0" name="Google Shape;66;p5"/>
            <p:cNvSpPr/>
            <p:nvPr userDrawn="1"/>
          </p:nvSpPr>
          <p:spPr>
            <a:xfrm>
              <a:off x="4783025" y="330076"/>
              <a:ext cx="1699500" cy="1211718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>
                <a:buClr>
                  <a:srgbClr val="000000"/>
                </a:buClr>
                <a:buFont typeface="Arial"/>
                <a:buNone/>
              </a:pPr>
              <a:endParaRPr sz="1867" kern="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6" name="Google Shape;67;p5"/>
          <p:cNvGrpSpPr/>
          <p:nvPr userDrawn="1"/>
        </p:nvGrpSpPr>
        <p:grpSpPr>
          <a:xfrm rot="10800000" flipH="1">
            <a:off x="1" y="-5239"/>
            <a:ext cx="7039120" cy="660372"/>
            <a:chOff x="-9092084" y="330075"/>
            <a:chExt cx="15560570" cy="1699501"/>
          </a:xfrm>
          <a:solidFill>
            <a:srgbClr val="2384AF"/>
          </a:solidFill>
        </p:grpSpPr>
        <p:sp>
          <p:nvSpPr>
            <p:cNvPr id="7" name="Google Shape;68;p5"/>
            <p:cNvSpPr/>
            <p:nvPr userDrawn="1"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>
                <a:buClr>
                  <a:srgbClr val="000000"/>
                </a:buClr>
                <a:buFont typeface="Arial"/>
                <a:buNone/>
              </a:pPr>
              <a:endParaRPr sz="1867" kern="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" name="Google Shape;69;p5"/>
            <p:cNvSpPr/>
            <p:nvPr userDrawn="1"/>
          </p:nvSpPr>
          <p:spPr>
            <a:xfrm>
              <a:off x="4768986" y="330075"/>
              <a:ext cx="1699500" cy="1699501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>
                <a:buClr>
                  <a:srgbClr val="000000"/>
                </a:buClr>
                <a:buFont typeface="Arial"/>
                <a:buNone/>
              </a:pPr>
              <a:endParaRPr sz="1867" kern="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11" name="Google Shape;78;p5"/>
          <p:cNvSpPr txBox="1">
            <a:spLocks noGrp="1"/>
          </p:cNvSpPr>
          <p:nvPr>
            <p:ph type="title"/>
          </p:nvPr>
        </p:nvSpPr>
        <p:spPr>
          <a:xfrm>
            <a:off x="3" y="37720"/>
            <a:ext cx="6730423" cy="574453"/>
          </a:xfrm>
          <a:prstGeom prst="rect">
            <a:avLst/>
          </a:prstGeom>
        </p:spPr>
        <p:txBody>
          <a:bodyPr spcFirstLastPara="1" wrap="square" lIns="10800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733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9475270" y="6224888"/>
            <a:ext cx="2721116" cy="634145"/>
            <a:chOff x="9475270" y="6224888"/>
            <a:chExt cx="2721116" cy="634145"/>
          </a:xfrm>
          <a:solidFill>
            <a:schemeClr val="bg1">
              <a:lumMod val="95000"/>
            </a:schemeClr>
          </a:solidFill>
        </p:grpSpPr>
        <p:sp>
          <p:nvSpPr>
            <p:cNvPr id="13" name="Google Shape;167;p10"/>
            <p:cNvSpPr/>
            <p:nvPr/>
          </p:nvSpPr>
          <p:spPr>
            <a:xfrm flipH="1">
              <a:off x="10366251" y="6224889"/>
              <a:ext cx="1830135" cy="63414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>
                <a:buClr>
                  <a:srgbClr val="000000"/>
                </a:buClr>
                <a:buFont typeface="Arial"/>
                <a:buNone/>
              </a:pPr>
              <a:endParaRPr sz="1867" kern="0" dirty="0">
                <a:solidFill>
                  <a:srgbClr val="000000"/>
                </a:solidFill>
                <a:latin typeface="Roboto Condensed" pitchFamily="2" charset="0"/>
                <a:cs typeface="Arial"/>
                <a:sym typeface="Arial"/>
              </a:endParaRPr>
            </a:p>
          </p:txBody>
        </p:sp>
        <p:sp>
          <p:nvSpPr>
            <p:cNvPr id="14" name="Google Shape;168;p10"/>
            <p:cNvSpPr/>
            <p:nvPr/>
          </p:nvSpPr>
          <p:spPr>
            <a:xfrm flipH="1">
              <a:off x="9475270" y="6224888"/>
              <a:ext cx="894617" cy="634145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>
                <a:buClr>
                  <a:srgbClr val="000000"/>
                </a:buClr>
                <a:buFont typeface="Arial"/>
                <a:buNone/>
              </a:pPr>
              <a:endParaRPr sz="1867" kern="0" dirty="0">
                <a:solidFill>
                  <a:srgbClr val="000000"/>
                </a:solidFill>
                <a:latin typeface="Roboto Condensed" pitchFamily="2" charset="0"/>
                <a:cs typeface="Arial"/>
                <a:sym typeface="Arial"/>
              </a:endParaRPr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9266417" y="6456905"/>
            <a:ext cx="2933151" cy="406084"/>
            <a:chOff x="9266417" y="6456905"/>
            <a:chExt cx="2933151" cy="406084"/>
          </a:xfrm>
          <a:solidFill>
            <a:srgbClr val="2384AF"/>
          </a:solidFill>
        </p:grpSpPr>
        <p:sp>
          <p:nvSpPr>
            <p:cNvPr id="15" name="Google Shape;170;p10"/>
            <p:cNvSpPr/>
            <p:nvPr/>
          </p:nvSpPr>
          <p:spPr>
            <a:xfrm flipH="1">
              <a:off x="9663959" y="6456921"/>
              <a:ext cx="2535609" cy="40606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>
                <a:buClr>
                  <a:srgbClr val="000000"/>
                </a:buClr>
                <a:buFont typeface="Arial"/>
                <a:buNone/>
              </a:pPr>
              <a:endParaRPr sz="1867" kern="0" dirty="0">
                <a:solidFill>
                  <a:srgbClr val="000000"/>
                </a:solidFill>
                <a:latin typeface="Roboto Condensed" pitchFamily="2" charset="0"/>
                <a:cs typeface="Arial"/>
                <a:sym typeface="Arial"/>
              </a:endParaRPr>
            </a:p>
          </p:txBody>
        </p:sp>
        <p:sp>
          <p:nvSpPr>
            <p:cNvPr id="16" name="Google Shape;171;p10"/>
            <p:cNvSpPr/>
            <p:nvPr/>
          </p:nvSpPr>
          <p:spPr>
            <a:xfrm flipH="1">
              <a:off x="9266417" y="6456905"/>
              <a:ext cx="406067" cy="406068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>
                <a:buClr>
                  <a:srgbClr val="000000"/>
                </a:buClr>
                <a:buFont typeface="Arial"/>
                <a:buNone/>
              </a:pPr>
              <a:endParaRPr sz="1867" kern="0" dirty="0">
                <a:solidFill>
                  <a:srgbClr val="000000"/>
                </a:solidFill>
                <a:latin typeface="Roboto Condensed" pitchFamily="2" charset="0"/>
                <a:cs typeface="Arial"/>
                <a:sym typeface="Arial"/>
              </a:endParaRPr>
            </a:p>
          </p:txBody>
        </p:sp>
      </p:grpSp>
      <p:sp>
        <p:nvSpPr>
          <p:cNvPr id="17" name="Google Shape;163;p10"/>
          <p:cNvSpPr txBox="1">
            <a:spLocks noGrp="1"/>
          </p:cNvSpPr>
          <p:nvPr>
            <p:ph type="sldNum" idx="4"/>
          </p:nvPr>
        </p:nvSpPr>
        <p:spPr>
          <a:xfrm>
            <a:off x="11241511" y="6461580"/>
            <a:ext cx="806636" cy="4157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867" b="1"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5FE59A5-F4B4-47F3-8C4B-BD6C0C97D86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/>
          </p:nvPr>
        </p:nvSpPr>
        <p:spPr>
          <a:xfrm>
            <a:off x="167217" y="804333"/>
            <a:ext cx="11633200" cy="5420784"/>
          </a:xfrm>
          <a:prstGeom prst="rect">
            <a:avLst/>
          </a:prstGeom>
        </p:spPr>
        <p:txBody>
          <a:bodyPr/>
          <a:lstStyle>
            <a:lvl1pPr>
              <a:buClr>
                <a:srgbClr val="19212F"/>
              </a:buClr>
              <a:defRPr sz="2133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434" y="90879"/>
            <a:ext cx="2422016" cy="60993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484" y="103381"/>
            <a:ext cx="2375663" cy="58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54648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-3563" y="-9451"/>
            <a:ext cx="11552092" cy="6886805"/>
            <a:chOff x="-3563" y="-9451"/>
            <a:chExt cx="11552092" cy="6886805"/>
          </a:xfrm>
          <a:solidFill>
            <a:schemeClr val="bg1">
              <a:lumMod val="95000"/>
            </a:schemeClr>
          </a:solidFill>
        </p:grpSpPr>
        <p:sp>
          <p:nvSpPr>
            <p:cNvPr id="6" name="Shape 26"/>
            <p:cNvSpPr/>
            <p:nvPr/>
          </p:nvSpPr>
          <p:spPr>
            <a:xfrm>
              <a:off x="-3563" y="-9451"/>
              <a:ext cx="4703563" cy="688680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  <p:sp>
          <p:nvSpPr>
            <p:cNvPr id="7" name="Shape 27"/>
            <p:cNvSpPr/>
            <p:nvPr/>
          </p:nvSpPr>
          <p:spPr>
            <a:xfrm rot="10800000" flipH="1">
              <a:off x="4690529" y="-9451"/>
              <a:ext cx="6858000" cy="68580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4" name="Shape 24"/>
          <p:cNvSpPr/>
          <p:nvPr/>
        </p:nvSpPr>
        <p:spPr>
          <a:xfrm>
            <a:off x="7596285" y="3514025"/>
            <a:ext cx="1185600" cy="395200"/>
          </a:xfrm>
          <a:prstGeom prst="triangle">
            <a:avLst>
              <a:gd name="adj" fmla="val 32425"/>
            </a:avLst>
          </a:prstGeom>
          <a:solidFill>
            <a:srgbClr val="352E1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914332"/>
            <a:endParaRPr sz="1800" dirty="0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-1" y="3899768"/>
            <a:ext cx="8785449" cy="2703024"/>
            <a:chOff x="-2" y="3899768"/>
            <a:chExt cx="8785449" cy="2703024"/>
          </a:xfrm>
          <a:solidFill>
            <a:srgbClr val="2384AF"/>
          </a:solidFill>
        </p:grpSpPr>
        <p:sp>
          <p:nvSpPr>
            <p:cNvPr id="9" name="Shape 29"/>
            <p:cNvSpPr/>
            <p:nvPr userDrawn="1"/>
          </p:nvSpPr>
          <p:spPr>
            <a:xfrm rot="10800000" flipH="1">
              <a:off x="-2" y="3899768"/>
              <a:ext cx="6085589" cy="270296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0" name="Shape 30"/>
            <p:cNvSpPr/>
            <p:nvPr userDrawn="1"/>
          </p:nvSpPr>
          <p:spPr>
            <a:xfrm rot="10800000" flipH="1">
              <a:off x="6082481" y="3899826"/>
              <a:ext cx="2702966" cy="2702966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1" name="Shape 33"/>
          <p:cNvGrpSpPr/>
          <p:nvPr/>
        </p:nvGrpSpPr>
        <p:grpSpPr>
          <a:xfrm flipH="1">
            <a:off x="9475267" y="6242102"/>
            <a:ext cx="2721116" cy="630413"/>
            <a:chOff x="1297957" y="330078"/>
            <a:chExt cx="5169293" cy="1197896"/>
          </a:xfrm>
          <a:solidFill>
            <a:schemeClr val="bg1">
              <a:lumMod val="95000"/>
            </a:schemeClr>
          </a:solidFill>
        </p:grpSpPr>
        <p:sp>
          <p:nvSpPr>
            <p:cNvPr id="12" name="Shape 34"/>
            <p:cNvSpPr/>
            <p:nvPr/>
          </p:nvSpPr>
          <p:spPr>
            <a:xfrm>
              <a:off x="1297957" y="330083"/>
              <a:ext cx="3476700" cy="119789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  <p:sp>
          <p:nvSpPr>
            <p:cNvPr id="13" name="Shape 35"/>
            <p:cNvSpPr/>
            <p:nvPr/>
          </p:nvSpPr>
          <p:spPr>
            <a:xfrm>
              <a:off x="4767749" y="330078"/>
              <a:ext cx="1699501" cy="1197896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</p:grpSp>
      <p:grpSp>
        <p:nvGrpSpPr>
          <p:cNvPr id="14" name="Shape 36"/>
          <p:cNvGrpSpPr/>
          <p:nvPr/>
        </p:nvGrpSpPr>
        <p:grpSpPr>
          <a:xfrm flipH="1">
            <a:off x="9266415" y="6459607"/>
            <a:ext cx="2933151" cy="406084"/>
            <a:chOff x="-5827153" y="330075"/>
            <a:chExt cx="12276019" cy="1699569"/>
          </a:xfrm>
          <a:solidFill>
            <a:srgbClr val="2384AF"/>
          </a:solidFill>
        </p:grpSpPr>
        <p:sp>
          <p:nvSpPr>
            <p:cNvPr id="15" name="Shape 37"/>
            <p:cNvSpPr/>
            <p:nvPr/>
          </p:nvSpPr>
          <p:spPr>
            <a:xfrm>
              <a:off x="-5827153" y="330144"/>
              <a:ext cx="1061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  <p:sp>
          <p:nvSpPr>
            <p:cNvPr id="16" name="Shape 38"/>
            <p:cNvSpPr/>
            <p:nvPr/>
          </p:nvSpPr>
          <p:spPr>
            <a:xfrm>
              <a:off x="4749366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32"/>
              <a:endParaRPr sz="1800" dirty="0">
                <a:solidFill>
                  <a:srgbClr val="000000"/>
                </a:solidFill>
                <a:latin typeface="Roboto Condensed" pitchFamily="2" charset="0"/>
              </a:endParaRPr>
            </a:p>
          </p:txBody>
        </p:sp>
      </p:grpSp>
      <p:sp>
        <p:nvSpPr>
          <p:cNvPr id="19" name="Google Shape;163;p10"/>
          <p:cNvSpPr txBox="1">
            <a:spLocks noGrp="1"/>
          </p:cNvSpPr>
          <p:nvPr>
            <p:ph type="sldNum" idx="4"/>
          </p:nvPr>
        </p:nvSpPr>
        <p:spPr>
          <a:xfrm>
            <a:off x="11241511" y="6461580"/>
            <a:ext cx="806636" cy="4157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867" b="1"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5FE59A5-F4B4-47F3-8C4B-BD6C0C97D865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  <a14:imgEffect>
                      <a14:brightnessContrast bright="-40000" contrast="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16" y="4722052"/>
            <a:ext cx="256560" cy="25656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 rot="13500000">
            <a:off x="261401" y="4490239"/>
            <a:ext cx="720190" cy="720191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FF"/>
              </a:solidFill>
              <a:latin typeface="Roboto Condensed" pitchFamily="2" charset="0"/>
              <a:ea typeface="Roboto Condensed" pitchFamily="2" charset="0"/>
              <a:sym typeface="Calibri" panose="020F0502020204030204" pitchFamily="34" charset="0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1105388" y="4563076"/>
            <a:ext cx="4853864" cy="54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67" b="1" dirty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  <a:cs typeface="Calibri" panose="020F0502020204030204" pitchFamily="34" charset="0"/>
                <a:sym typeface="Calibri" panose="020F0502020204030204" pitchFamily="34" charset="0"/>
              </a:rPr>
              <a:t>No.01, 3rd cross Basappa Layout, Gavipuram </a:t>
            </a:r>
            <a:r>
              <a:rPr lang="en-US" sz="1467" b="1" dirty="0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  <a:cs typeface="Calibri" panose="020F0502020204030204" pitchFamily="34" charset="0"/>
                <a:sym typeface="Calibri" panose="020F0502020204030204" pitchFamily="34" charset="0"/>
              </a:rPr>
              <a:t>Extension, </a:t>
            </a:r>
            <a:r>
              <a:rPr lang="en-US" sz="1467" b="1" dirty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  <a:cs typeface="Calibri" panose="020F0502020204030204" pitchFamily="34" charset="0"/>
                <a:sym typeface="Calibri" panose="020F0502020204030204" pitchFamily="34" charset="0"/>
              </a:rPr>
              <a:t>Kempegowda Nagar, Bengaluru, Karnataka 560019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08" y="5871318"/>
            <a:ext cx="279908" cy="279908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 rot="13500000">
            <a:off x="253368" y="5651177"/>
            <a:ext cx="720191" cy="720191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Roboto Condensed" pitchFamily="2" charset="0"/>
              <a:ea typeface="Roboto Condensed" pitchFamily="2" charset="0"/>
              <a:sym typeface="Calibri" panose="020F0502020204030204" pitchFamily="34" charset="0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1">
                <a:tint val="45000"/>
                <a:satMod val="400000"/>
              </a:schemeClr>
            </a:duotone>
            <a:lum bright="-100000" contras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169" y="5830869"/>
            <a:ext cx="365618" cy="360807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 rot="13500000">
            <a:off x="3953882" y="5651177"/>
            <a:ext cx="720191" cy="720191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Roboto Condensed" pitchFamily="2" charset="0"/>
              <a:ea typeface="Roboto Condensed" pitchFamily="2" charset="0"/>
              <a:sym typeface="Calibri" panose="020F0502020204030204" pitchFamily="34" charset="0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4884774" y="2415355"/>
            <a:ext cx="2422457" cy="2027295"/>
            <a:chOff x="3663578" y="1811515"/>
            <a:chExt cx="1816844" cy="1520471"/>
          </a:xfrm>
        </p:grpSpPr>
        <p:sp>
          <p:nvSpPr>
            <p:cNvPr id="21" name="TextBox 20"/>
            <p:cNvSpPr txBox="1"/>
            <p:nvPr/>
          </p:nvSpPr>
          <p:spPr>
            <a:xfrm>
              <a:off x="3663578" y="1811515"/>
              <a:ext cx="1816844" cy="5309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Roboto Condensed" pitchFamily="2" charset="0"/>
                  <a:ea typeface="Roboto Condensed" pitchFamily="2" charset="0"/>
                  <a:cs typeface="Calibri" panose="020F0502020204030204" pitchFamily="34" charset="0"/>
                  <a:sym typeface="Calibri" panose="020F0502020204030204" pitchFamily="34" charset="0"/>
                </a:rPr>
                <a:t>Contact Us</a:t>
              </a:r>
            </a:p>
          </p:txBody>
        </p:sp>
        <p:grpSp>
          <p:nvGrpSpPr>
            <p:cNvPr id="5" name="Group 4"/>
            <p:cNvGrpSpPr/>
            <p:nvPr userDrawn="1"/>
          </p:nvGrpSpPr>
          <p:grpSpPr>
            <a:xfrm>
              <a:off x="4097490" y="2382966"/>
              <a:ext cx="949020" cy="949020"/>
              <a:chOff x="4097490" y="2382966"/>
              <a:chExt cx="949020" cy="949020"/>
            </a:xfrm>
          </p:grpSpPr>
          <p:sp>
            <p:nvSpPr>
              <p:cNvPr id="24" name="Teardrop 23"/>
              <p:cNvSpPr/>
              <p:nvPr/>
            </p:nvSpPr>
            <p:spPr>
              <a:xfrm rot="8070752">
                <a:off x="4097490" y="2382966"/>
                <a:ext cx="949020" cy="949020"/>
              </a:xfrm>
              <a:prstGeom prst="teardrop">
                <a:avLst/>
              </a:prstGeom>
              <a:solidFill>
                <a:srgbClr val="2384AF"/>
              </a:solidFill>
              <a:ln w="571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>
                  <a:solidFill>
                    <a:srgbClr val="FFFFFF"/>
                  </a:solidFill>
                  <a:latin typeface="Roboto Condensed" pitchFamily="2" charset="0"/>
                  <a:ea typeface="Roboto Condensed" pitchFamily="2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2" name="Oval Callout 1"/>
              <p:cNvSpPr/>
              <p:nvPr userDrawn="1"/>
            </p:nvSpPr>
            <p:spPr>
              <a:xfrm>
                <a:off x="4408634" y="2816251"/>
                <a:ext cx="330935" cy="231336"/>
              </a:xfrm>
              <a:prstGeom prst="wedgeEllipseCallout">
                <a:avLst>
                  <a:gd name="adj1" fmla="val -37264"/>
                  <a:gd name="adj2" fmla="val 55542"/>
                </a:avLst>
              </a:prstGeom>
              <a:no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1" dirty="0">
                  <a:latin typeface="Roboto Condensed" pitchFamily="2" charset="0"/>
                </a:endParaRPr>
              </a:p>
            </p:txBody>
          </p:sp>
        </p:grp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51C262FE-2B35-40C2-9E59-B7F449550376}"/>
              </a:ext>
            </a:extLst>
          </p:cNvPr>
          <p:cNvSpPr/>
          <p:nvPr userDrawn="1"/>
        </p:nvSpPr>
        <p:spPr>
          <a:xfrm>
            <a:off x="1026920" y="5626455"/>
            <a:ext cx="2710095" cy="769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67" b="1" u="none" kern="1200" dirty="0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  <a:cs typeface="Calibri" panose="020F0502020204030204" pitchFamily="34" charset="0"/>
                <a:sym typeface="Calibri" panose="020F0502020204030204" pitchFamily="34" charset="0"/>
              </a:rPr>
              <a:t>sagar.g@testyantra.com</a:t>
            </a:r>
          </a:p>
          <a:p>
            <a:r>
              <a:rPr lang="en-US" sz="1467" b="1" u="none" dirty="0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  <a:cs typeface="Calibri" panose="020F0502020204030204" pitchFamily="34" charset="0"/>
                <a:sym typeface="Calibri" panose="020F0502020204030204" pitchFamily="34" charset="0"/>
              </a:rPr>
              <a:t>gurupreetham.c@testyantra.com</a:t>
            </a:r>
          </a:p>
          <a:p>
            <a:r>
              <a:rPr lang="en-US" sz="1467" b="1" u="none" dirty="0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  <a:cs typeface="Calibri" panose="020F0502020204030204" pitchFamily="34" charset="0"/>
                <a:sym typeface="Calibri" panose="020F0502020204030204" pitchFamily="34" charset="0"/>
              </a:rPr>
              <a:t>praveen.d@testyantra.com</a:t>
            </a:r>
            <a:endParaRPr lang="en-US" sz="1467" b="1" dirty="0">
              <a:solidFill>
                <a:schemeClr val="bg1"/>
              </a:solidFill>
              <a:latin typeface="Roboto Condensed" pitchFamily="2" charset="0"/>
              <a:ea typeface="Roboto Condensed" pitchFamily="2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6475CF-1BB0-4BF3-B63E-3730F03491F8}"/>
              </a:ext>
            </a:extLst>
          </p:cNvPr>
          <p:cNvSpPr/>
          <p:nvPr userDrawn="1"/>
        </p:nvSpPr>
        <p:spPr>
          <a:xfrm>
            <a:off x="4718863" y="5855709"/>
            <a:ext cx="2740572" cy="318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67" b="1" dirty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  <a:cs typeface="Calibri" panose="020F0502020204030204" pitchFamily="34" charset="0"/>
                <a:sym typeface="Calibri" panose="020F0502020204030204" pitchFamily="34" charset="0"/>
              </a:rPr>
              <a:t>www.testyantra.com</a:t>
            </a:r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39" y="-195"/>
            <a:ext cx="4840795" cy="121906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876" y="5500471"/>
            <a:ext cx="2807260" cy="69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1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011200" cy="10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 dirty="0"/>
          </a:p>
        </p:txBody>
      </p:sp>
      <p:sp>
        <p:nvSpPr>
          <p:cNvPr id="5" name="Google Shape;163;p10"/>
          <p:cNvSpPr txBox="1">
            <a:spLocks noGrp="1"/>
          </p:cNvSpPr>
          <p:nvPr>
            <p:ph type="sldNum" idx="4"/>
          </p:nvPr>
        </p:nvSpPr>
        <p:spPr>
          <a:xfrm>
            <a:off x="11241511" y="6461580"/>
            <a:ext cx="806636" cy="4157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867" b="1">
                <a:solidFill>
                  <a:schemeClr val="bg1"/>
                </a:solidFill>
                <a:latin typeface="Roboto Condensed" pitchFamily="2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A5FE59A5-F4B4-47F3-8C4B-BD6C0C97D86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830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</p:sldLayoutIdLst>
  <p:transition>
    <p:fade thruBlk="1"/>
  </p:transition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609570" marR="0" lvl="0" indent="-50797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1867" b="0" i="0" u="none" strike="noStrike" cap="none">
          <a:solidFill>
            <a:srgbClr val="000000"/>
          </a:solidFill>
          <a:latin typeface="Roboto Condensed" pitchFamily="2" charset="0"/>
          <a:ea typeface="Roboto Condensed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8000" dirty="0"/>
              <a:t/>
            </a:r>
            <a:br>
              <a:rPr lang="en-IN" sz="8000" dirty="0"/>
            </a:br>
            <a:r>
              <a:rPr lang="en-IN" sz="8000" dirty="0" smtClean="0"/>
              <a:t>Spring MVC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294967295"/>
          </p:nvPr>
        </p:nvSpPr>
        <p:spPr>
          <a:xfrm>
            <a:off x="11241511" y="6461580"/>
            <a:ext cx="806636" cy="415777"/>
          </a:xfrm>
        </p:spPr>
        <p:txBody>
          <a:bodyPr/>
          <a:lstStyle/>
          <a:p>
            <a:fld id="{A5FE59A5-F4B4-47F3-8C4B-BD6C0C97D865}" type="slidenum">
              <a:rPr lang="en-IN" smtClean="0"/>
              <a:t>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5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37947"/>
            <a:ext cx="6730423" cy="574003"/>
          </a:xfrm>
        </p:spPr>
        <p:txBody>
          <a:bodyPr/>
          <a:lstStyle/>
          <a:p>
            <a:r>
              <a:rPr lang="en-IN" sz="3730" dirty="0"/>
              <a:t>MVC</a:t>
            </a:r>
            <a:r>
              <a:rPr lang="en-IN" sz="3200" dirty="0"/>
              <a:t> </a:t>
            </a:r>
            <a:r>
              <a:rPr lang="en-IN" sz="3600" dirty="0"/>
              <a:t>(Model-View-Controller)</a:t>
            </a:r>
            <a:endParaRPr lang="en-IN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  <p:grpSp>
        <p:nvGrpSpPr>
          <p:cNvPr id="18" name="Group 17"/>
          <p:cNvGrpSpPr/>
          <p:nvPr/>
        </p:nvGrpSpPr>
        <p:grpSpPr>
          <a:xfrm>
            <a:off x="2451733" y="4399562"/>
            <a:ext cx="1627299" cy="1409003"/>
            <a:chOff x="757646" y="1084217"/>
            <a:chExt cx="2142308" cy="1854926"/>
          </a:xfrm>
        </p:grpSpPr>
        <p:sp>
          <p:nvSpPr>
            <p:cNvPr id="19" name="Rectangle 18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 flipH="1">
              <a:off x="1283651" y="1768570"/>
              <a:ext cx="1077536" cy="486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View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805297" y="1662942"/>
            <a:ext cx="1627299" cy="1409003"/>
            <a:chOff x="757646" y="1084217"/>
            <a:chExt cx="2142308" cy="1854926"/>
          </a:xfrm>
        </p:grpSpPr>
        <p:sp>
          <p:nvSpPr>
            <p:cNvPr id="22" name="Rectangle 21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 flipH="1">
              <a:off x="1243846" y="1768569"/>
              <a:ext cx="1177559" cy="486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Model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542348" y="1662941"/>
            <a:ext cx="1627299" cy="1409003"/>
            <a:chOff x="757646" y="1084217"/>
            <a:chExt cx="2142308" cy="1854926"/>
          </a:xfrm>
        </p:grpSpPr>
        <p:sp>
          <p:nvSpPr>
            <p:cNvPr id="25" name="Rectangle 24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 flipH="1">
              <a:off x="951236" y="1768570"/>
              <a:ext cx="1747477" cy="486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Controller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0074058" y="1349432"/>
            <a:ext cx="1384662" cy="2036020"/>
            <a:chOff x="7443379" y="4189097"/>
            <a:chExt cx="1384662" cy="203602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7" name="Flowchart: Magnetic Disk 26"/>
            <p:cNvSpPr/>
            <p:nvPr/>
          </p:nvSpPr>
          <p:spPr>
            <a:xfrm>
              <a:off x="7443379" y="4189097"/>
              <a:ext cx="1384662" cy="2036020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 flipH="1">
              <a:off x="7873857" y="5146925"/>
              <a:ext cx="523706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1" dirty="0" smtClean="0"/>
                <a:t>DB</a:t>
              </a:r>
            </a:p>
          </p:txBody>
        </p:sp>
      </p:grpSp>
      <p:cxnSp>
        <p:nvCxnSpPr>
          <p:cNvPr id="31" name="Straight Arrow Connector 30"/>
          <p:cNvCxnSpPr/>
          <p:nvPr/>
        </p:nvCxnSpPr>
        <p:spPr>
          <a:xfrm flipV="1">
            <a:off x="1906699" y="2106183"/>
            <a:ext cx="163564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5183810" y="2106181"/>
            <a:ext cx="163564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8446729" y="2106180"/>
            <a:ext cx="163564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5" idx="2"/>
            <a:endCxn id="19" idx="0"/>
          </p:cNvCxnSpPr>
          <p:nvPr/>
        </p:nvCxnSpPr>
        <p:spPr>
          <a:xfrm flipH="1">
            <a:off x="3265383" y="3071944"/>
            <a:ext cx="1090615" cy="13276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5166391" y="2676593"/>
            <a:ext cx="1635649" cy="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8429310" y="2676592"/>
            <a:ext cx="1635649" cy="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/>
          <p:cNvCxnSpPr/>
          <p:nvPr/>
        </p:nvCxnSpPr>
        <p:spPr>
          <a:xfrm rot="10800000">
            <a:off x="1052718" y="3216336"/>
            <a:ext cx="1385568" cy="188772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166006" y="1766228"/>
            <a:ext cx="97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request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1223089" y="5091000"/>
            <a:ext cx="117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response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762" r="1994" b="8951"/>
          <a:stretch/>
        </p:blipFill>
        <p:spPr>
          <a:xfrm>
            <a:off x="203118" y="1398184"/>
            <a:ext cx="1726093" cy="181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143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78726"/>
            <a:ext cx="6730423" cy="492443"/>
          </a:xfrm>
        </p:spPr>
        <p:txBody>
          <a:bodyPr/>
          <a:lstStyle/>
          <a:p>
            <a:r>
              <a:rPr lang="en-IN" sz="3200" dirty="0"/>
              <a:t>MVC (Model-View-Controller</a:t>
            </a:r>
            <a:r>
              <a:rPr lang="en-IN" sz="3200" dirty="0" smtClean="0"/>
              <a:t>)…</a:t>
            </a:r>
            <a:endParaRPr lang="en-IN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Spring Web MVC framework provides Model-View-Controller (MVC) architecture and ready components that can be used to develop flexible and loosely coupled web </a:t>
            </a:r>
            <a:r>
              <a:rPr lang="en-US" dirty="0" smtClean="0"/>
              <a:t>applications.</a:t>
            </a:r>
          </a:p>
          <a:p>
            <a:endParaRPr lang="en-US" dirty="0"/>
          </a:p>
          <a:p>
            <a:r>
              <a:rPr lang="en-US" dirty="0"/>
              <a:t>The MVC pattern results in separating the different aspects of the application (input logic, business logic, and UI logic), while providing a loose coupling between these elements.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sz="2400" dirty="0" smtClean="0"/>
              <a:t>–</a:t>
            </a: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b="1" dirty="0"/>
              <a:t>Model</a:t>
            </a:r>
            <a:r>
              <a:rPr lang="en-US" dirty="0"/>
              <a:t> encapsulates the application data and in general they will consist of </a:t>
            </a:r>
            <a:r>
              <a:rPr lang="en-US" dirty="0" smtClean="0"/>
              <a:t>POJO.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sz="2400" dirty="0"/>
              <a:t> </a:t>
            </a:r>
            <a:r>
              <a:rPr lang="en-US" sz="2400" dirty="0" smtClean="0"/>
              <a:t>– </a:t>
            </a:r>
            <a:r>
              <a:rPr lang="en-US" dirty="0" smtClean="0"/>
              <a:t>The </a:t>
            </a:r>
            <a:r>
              <a:rPr lang="en-US" b="1" dirty="0"/>
              <a:t>View</a:t>
            </a:r>
            <a:r>
              <a:rPr lang="en-US" dirty="0"/>
              <a:t> is responsible for rendering the model data and in general it generates HTML output that the client's browser can </a:t>
            </a:r>
            <a:r>
              <a:rPr lang="en-US" dirty="0" smtClean="0"/>
              <a:t>interpret.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sz="2400" dirty="0" smtClean="0"/>
              <a:t>– </a:t>
            </a:r>
            <a:r>
              <a:rPr lang="en-US" dirty="0" smtClean="0"/>
              <a:t>The </a:t>
            </a:r>
            <a:r>
              <a:rPr lang="en-US" b="1" dirty="0"/>
              <a:t>Controller </a:t>
            </a:r>
            <a:r>
              <a:rPr lang="en-US" dirty="0"/>
              <a:t>is responsible for processing user requests and building an appropriate model and passes it to the view for rendering.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99123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37720"/>
            <a:ext cx="6730423" cy="574453"/>
          </a:xfrm>
        </p:spPr>
        <p:txBody>
          <a:bodyPr/>
          <a:lstStyle/>
          <a:p>
            <a:r>
              <a:rPr lang="en-IN" dirty="0" smtClean="0"/>
              <a:t>Front-Controller MVC</a:t>
            </a:r>
            <a:endParaRPr lang="en-IN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3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101596" indent="0">
              <a:buNone/>
            </a:pPr>
            <a:endParaRPr lang="en-US" dirty="0" smtClean="0"/>
          </a:p>
          <a:p>
            <a:pPr marL="101596" indent="0">
              <a:buNone/>
            </a:pPr>
            <a:endParaRPr lang="en-US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2727445" y="1253695"/>
            <a:ext cx="1457899" cy="2199600"/>
            <a:chOff x="757646" y="1084217"/>
            <a:chExt cx="2142308" cy="1854926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  <a:grp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49547" y="1673711"/>
              <a:ext cx="1958503" cy="54374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002060"/>
                  </a:solidFill>
                </a:rPr>
                <a:t>Front Controller</a:t>
              </a:r>
              <a:endParaRPr lang="en-IN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643523" y="4948203"/>
            <a:ext cx="1627299" cy="1409003"/>
            <a:chOff x="757646" y="1084217"/>
            <a:chExt cx="2142308" cy="1854926"/>
          </a:xfrm>
        </p:grpSpPr>
        <p:sp>
          <p:nvSpPr>
            <p:cNvPr id="12" name="Rectangle 11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flipH="1">
              <a:off x="1309475" y="1768570"/>
              <a:ext cx="1038649" cy="486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View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096210" y="1662943"/>
            <a:ext cx="1457900" cy="1262328"/>
            <a:chOff x="757646" y="1084217"/>
            <a:chExt cx="2142308" cy="1854926"/>
          </a:xfrm>
        </p:grpSpPr>
        <p:sp>
          <p:nvSpPr>
            <p:cNvPr id="15" name="Rectangle 14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 flipH="1">
              <a:off x="1204424" y="1673770"/>
              <a:ext cx="1248750" cy="542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Model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47873" y="1662943"/>
            <a:ext cx="1457900" cy="1262328"/>
            <a:chOff x="757646" y="1084217"/>
            <a:chExt cx="2142308" cy="1854926"/>
          </a:xfrm>
        </p:grpSpPr>
        <p:sp>
          <p:nvSpPr>
            <p:cNvPr id="18" name="Rectangle 17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 flipH="1">
              <a:off x="877709" y="1693284"/>
              <a:ext cx="1902181" cy="542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Controller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 flipV="1">
            <a:off x="1460969" y="2096424"/>
            <a:ext cx="1276796" cy="97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05773" y="1998606"/>
            <a:ext cx="138588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9563209" y="1998605"/>
            <a:ext cx="13176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806795" y="3441275"/>
            <a:ext cx="2462" cy="15069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705773" y="2564065"/>
            <a:ext cx="1385887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554110" y="2497995"/>
            <a:ext cx="132676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28835" y="1766228"/>
            <a:ext cx="97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request</a:t>
            </a:r>
            <a:endParaRPr lang="en-IN" dirty="0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4195324" y="2001748"/>
            <a:ext cx="1043450" cy="121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188585" y="2497995"/>
            <a:ext cx="1050189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12" idx="1"/>
            <a:endCxn id="38" idx="2"/>
          </p:cNvCxnSpPr>
          <p:nvPr/>
        </p:nvCxnSpPr>
        <p:spPr>
          <a:xfrm rot="10800000">
            <a:off x="732533" y="2979623"/>
            <a:ext cx="1910991" cy="267308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23089" y="5639642"/>
            <a:ext cx="117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response</a:t>
            </a:r>
            <a:endParaRPr lang="en-IN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762" r="1994" b="8951"/>
          <a:stretch/>
        </p:blipFill>
        <p:spPr>
          <a:xfrm>
            <a:off x="0" y="1430420"/>
            <a:ext cx="1465064" cy="1549203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10880878" y="1349432"/>
            <a:ext cx="1240521" cy="1824074"/>
            <a:chOff x="7443379" y="4189097"/>
            <a:chExt cx="1384662" cy="203602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0" name="Flowchart: Magnetic Disk 39"/>
            <p:cNvSpPr/>
            <p:nvPr/>
          </p:nvSpPr>
          <p:spPr>
            <a:xfrm>
              <a:off x="7443379" y="4189097"/>
              <a:ext cx="1384662" cy="2036020"/>
            </a:xfrm>
            <a:prstGeom prst="flowChartMagneticDisk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 flipH="1">
              <a:off x="7843022" y="5144101"/>
              <a:ext cx="585373" cy="412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0070C0"/>
                  </a:solidFill>
                </a:rPr>
                <a:t>DB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72438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37720"/>
            <a:ext cx="6730423" cy="574453"/>
          </a:xfrm>
        </p:spPr>
        <p:txBody>
          <a:bodyPr/>
          <a:lstStyle/>
          <a:p>
            <a:r>
              <a:rPr lang="en-IN" dirty="0" smtClean="0"/>
              <a:t>DispatcherServlet</a:t>
            </a:r>
            <a:endParaRPr lang="en-IN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4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101596" indent="0">
              <a:buNone/>
            </a:pPr>
            <a:endParaRPr lang="en-US" dirty="0" smtClean="0"/>
          </a:p>
          <a:p>
            <a:pPr marL="101596" indent="0">
              <a:buNone/>
            </a:pPr>
            <a:endParaRPr lang="en-US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2730685" y="1254034"/>
            <a:ext cx="1457899" cy="2200301"/>
            <a:chOff x="757646" y="1084217"/>
            <a:chExt cx="2142308" cy="1854926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  <a:grp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789589" y="1688593"/>
              <a:ext cx="2078425" cy="544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002060"/>
                  </a:solidFill>
                </a:rPr>
                <a:t>Dispatcher Servlet</a:t>
              </a:r>
              <a:endParaRPr lang="en-IN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643523" y="4961264"/>
            <a:ext cx="1627299" cy="1409003"/>
            <a:chOff x="757646" y="1084217"/>
            <a:chExt cx="2142308" cy="1854926"/>
          </a:xfrm>
        </p:grpSpPr>
        <p:sp>
          <p:nvSpPr>
            <p:cNvPr id="12" name="Rectangle 11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flipH="1">
              <a:off x="1309475" y="1768570"/>
              <a:ext cx="1038649" cy="486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View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096210" y="1662943"/>
            <a:ext cx="1457900" cy="1262328"/>
            <a:chOff x="757646" y="1084217"/>
            <a:chExt cx="2142308" cy="1854926"/>
          </a:xfrm>
        </p:grpSpPr>
        <p:sp>
          <p:nvSpPr>
            <p:cNvPr id="15" name="Rectangle 14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 flipH="1">
              <a:off x="1204424" y="1673770"/>
              <a:ext cx="1248750" cy="542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Model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47873" y="1662943"/>
            <a:ext cx="1457900" cy="1262328"/>
            <a:chOff x="757646" y="1084217"/>
            <a:chExt cx="2142308" cy="1854926"/>
          </a:xfrm>
        </p:grpSpPr>
        <p:sp>
          <p:nvSpPr>
            <p:cNvPr id="18" name="Rectangle 17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 flipH="1">
              <a:off x="877709" y="1693284"/>
              <a:ext cx="1902181" cy="542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Controller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0880878" y="1349432"/>
            <a:ext cx="1240521" cy="1824074"/>
            <a:chOff x="7443379" y="4189097"/>
            <a:chExt cx="1384662" cy="203602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1" name="Flowchart: Magnetic Disk 20"/>
            <p:cNvSpPr/>
            <p:nvPr/>
          </p:nvSpPr>
          <p:spPr>
            <a:xfrm>
              <a:off x="7443379" y="4189097"/>
              <a:ext cx="1384662" cy="2036020"/>
            </a:xfrm>
            <a:prstGeom prst="flowChartMagneticDisk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 flipH="1">
              <a:off x="7843022" y="5144101"/>
              <a:ext cx="585373" cy="412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0070C0"/>
                  </a:solidFill>
                </a:rPr>
                <a:t>DB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 flipV="1">
            <a:off x="1460969" y="2096424"/>
            <a:ext cx="1276796" cy="97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05773" y="1998606"/>
            <a:ext cx="138588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9563209" y="1998605"/>
            <a:ext cx="13176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806795" y="3454336"/>
            <a:ext cx="2462" cy="15069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705773" y="2564065"/>
            <a:ext cx="1385887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554110" y="2497995"/>
            <a:ext cx="132676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26147" y="1766228"/>
            <a:ext cx="97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request</a:t>
            </a:r>
            <a:endParaRPr lang="en-IN" dirty="0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4195324" y="2001748"/>
            <a:ext cx="1043450" cy="121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188585" y="2497995"/>
            <a:ext cx="1050189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762" r="1994" b="8951"/>
          <a:stretch/>
        </p:blipFill>
        <p:spPr>
          <a:xfrm>
            <a:off x="0" y="1430420"/>
            <a:ext cx="1465064" cy="1549203"/>
          </a:xfrm>
          <a:prstGeom prst="rect">
            <a:avLst/>
          </a:prstGeom>
        </p:spPr>
      </p:pic>
      <p:cxnSp>
        <p:nvCxnSpPr>
          <p:cNvPr id="35" name="Elbow Connector 34"/>
          <p:cNvCxnSpPr>
            <a:stCxn id="12" idx="1"/>
            <a:endCxn id="34" idx="2"/>
          </p:cNvCxnSpPr>
          <p:nvPr/>
        </p:nvCxnSpPr>
        <p:spPr>
          <a:xfrm rot="10800000">
            <a:off x="732533" y="2979624"/>
            <a:ext cx="1910991" cy="268614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23089" y="5652705"/>
            <a:ext cx="117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5566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DispatcherServlet…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All the request first come to DispatcherServlet.</a:t>
            </a:r>
          </a:p>
          <a:p>
            <a:endParaRPr lang="en-US" sz="1800" dirty="0" smtClean="0"/>
          </a:p>
          <a:p>
            <a:r>
              <a:rPr lang="en-US" dirty="0"/>
              <a:t>After receiving an HTTP request, DispatcherServlet consults the </a:t>
            </a:r>
            <a:r>
              <a:rPr lang="en-US" dirty="0" err="1"/>
              <a:t>HandlerMapping</a:t>
            </a:r>
            <a:r>
              <a:rPr lang="en-US" dirty="0"/>
              <a:t> </a:t>
            </a:r>
            <a:r>
              <a:rPr lang="en-US" dirty="0" smtClean="0"/>
              <a:t>to </a:t>
            </a:r>
            <a:r>
              <a:rPr lang="en-US" dirty="0"/>
              <a:t>call the appropriate Controller.</a:t>
            </a:r>
          </a:p>
          <a:p>
            <a:endParaRPr lang="en-US" sz="1800" dirty="0" smtClean="0"/>
          </a:p>
          <a:p>
            <a:r>
              <a:rPr lang="en-US" dirty="0"/>
              <a:t>The Controller takes the request and calls the appropriate service </a:t>
            </a:r>
            <a:r>
              <a:rPr lang="en-US" dirty="0" smtClean="0"/>
              <a:t>methods.</a:t>
            </a:r>
          </a:p>
          <a:p>
            <a:endParaRPr lang="en-US" sz="1800" dirty="0" smtClean="0"/>
          </a:p>
          <a:p>
            <a:r>
              <a:rPr lang="en-US" dirty="0"/>
              <a:t>The service method will set model data based on defined business logic and </a:t>
            </a:r>
            <a:r>
              <a:rPr lang="en-US" dirty="0" smtClean="0"/>
              <a:t>gives that data to the controller</a:t>
            </a:r>
          </a:p>
          <a:p>
            <a:endParaRPr lang="en-US" sz="1800" dirty="0" smtClean="0"/>
          </a:p>
          <a:p>
            <a:r>
              <a:rPr lang="en-US" dirty="0" smtClean="0"/>
              <a:t>Controller, along with the data, returns </a:t>
            </a:r>
            <a:r>
              <a:rPr lang="en-US" dirty="0"/>
              <a:t>view name to the DispatcherServlet</a:t>
            </a:r>
            <a:r>
              <a:rPr lang="en-US" dirty="0" smtClean="0"/>
              <a:t>.</a:t>
            </a:r>
          </a:p>
          <a:p>
            <a:endParaRPr lang="en-IN" sz="1800" dirty="0" smtClean="0"/>
          </a:p>
          <a:p>
            <a:r>
              <a:rPr lang="en-US" dirty="0"/>
              <a:t>The DispatcherServlet will take help from ViewResolver to pickup the defined view for the request</a:t>
            </a:r>
            <a:r>
              <a:rPr lang="en-US" dirty="0" smtClean="0"/>
              <a:t>.</a:t>
            </a:r>
          </a:p>
          <a:p>
            <a:endParaRPr lang="en-IN" sz="1800" dirty="0" smtClean="0"/>
          </a:p>
          <a:p>
            <a:r>
              <a:rPr lang="en-US" dirty="0"/>
              <a:t>Once view is finalized, The DispatcherServlet passes the model data to the view which is finally rendered on the browser</a:t>
            </a:r>
            <a:r>
              <a:rPr lang="en-US" dirty="0" smtClean="0"/>
              <a:t>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6047243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37720"/>
            <a:ext cx="6730423" cy="574453"/>
          </a:xfrm>
        </p:spPr>
        <p:txBody>
          <a:bodyPr/>
          <a:lstStyle/>
          <a:p>
            <a:r>
              <a:rPr lang="en-IN" dirty="0" smtClean="0"/>
              <a:t>DispatcherServlet…</a:t>
            </a:r>
            <a:endParaRPr lang="en-IN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101596" indent="0">
              <a:buNone/>
            </a:pPr>
            <a:endParaRPr lang="en-US" dirty="0" smtClean="0"/>
          </a:p>
          <a:p>
            <a:pPr marL="101596" indent="0">
              <a:buNone/>
            </a:pPr>
            <a:endParaRPr lang="en-US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2218941" y="1637462"/>
            <a:ext cx="1256341" cy="2109146"/>
            <a:chOff x="749800" y="1084217"/>
            <a:chExt cx="2165838" cy="1854926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  <a:grp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749800" y="1740705"/>
              <a:ext cx="2165838" cy="514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rgbClr val="002060"/>
                  </a:solidFill>
                </a:rPr>
                <a:t>Dispatcher Servlet</a:t>
              </a:r>
              <a:endParaRPr lang="en-IN" sz="16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976165" y="4907451"/>
            <a:ext cx="1627299" cy="1409003"/>
            <a:chOff x="757646" y="1084217"/>
            <a:chExt cx="2142308" cy="1854926"/>
          </a:xfrm>
        </p:grpSpPr>
        <p:sp>
          <p:nvSpPr>
            <p:cNvPr id="12" name="Rectangle 11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flipH="1">
              <a:off x="1309475" y="1768570"/>
              <a:ext cx="1038649" cy="486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View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618729" y="2015644"/>
            <a:ext cx="1457900" cy="1262328"/>
            <a:chOff x="757646" y="1084217"/>
            <a:chExt cx="2142308" cy="1854926"/>
          </a:xfrm>
        </p:grpSpPr>
        <p:sp>
          <p:nvSpPr>
            <p:cNvPr id="15" name="Rectangle 14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 flipH="1">
              <a:off x="1204424" y="1673770"/>
              <a:ext cx="1248750" cy="542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Model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36595" y="2015644"/>
            <a:ext cx="1457900" cy="1262328"/>
            <a:chOff x="757646" y="1084217"/>
            <a:chExt cx="2142308" cy="1854926"/>
          </a:xfrm>
        </p:grpSpPr>
        <p:sp>
          <p:nvSpPr>
            <p:cNvPr id="18" name="Rectangle 17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 flipH="1">
              <a:off x="877709" y="1693284"/>
              <a:ext cx="1902181" cy="542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Controller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 flipV="1">
            <a:off x="1460969" y="2453234"/>
            <a:ext cx="739364" cy="5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7908169" y="2351307"/>
            <a:ext cx="692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0084526" y="2351306"/>
            <a:ext cx="796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184294" y="3746608"/>
            <a:ext cx="0" cy="1160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7908169" y="2916766"/>
            <a:ext cx="692944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0084526" y="2850696"/>
            <a:ext cx="79635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05979" y="2100794"/>
            <a:ext cx="522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req</a:t>
            </a:r>
            <a:endParaRPr lang="en-IN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762" r="1994" b="8951"/>
          <a:stretch/>
        </p:blipFill>
        <p:spPr>
          <a:xfrm>
            <a:off x="-572" y="1839568"/>
            <a:ext cx="1465064" cy="1549203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7080069" y="0"/>
            <a:ext cx="5111931" cy="8043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52" name="Group 51"/>
          <p:cNvGrpSpPr/>
          <p:nvPr/>
        </p:nvGrpSpPr>
        <p:grpSpPr>
          <a:xfrm>
            <a:off x="4327851" y="881682"/>
            <a:ext cx="1354242" cy="840285"/>
            <a:chOff x="757646" y="1084217"/>
            <a:chExt cx="2142308" cy="1854926"/>
          </a:xfrm>
        </p:grpSpPr>
        <p:sp>
          <p:nvSpPr>
            <p:cNvPr id="53" name="Rectangle 52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 flipH="1">
              <a:off x="877709" y="1325825"/>
              <a:ext cx="1902181" cy="1426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Handler Mapping</a:t>
              </a:r>
              <a:endParaRPr lang="en-IN" b="1" dirty="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175766" y="4127187"/>
            <a:ext cx="1639460" cy="862826"/>
            <a:chOff x="757646" y="1084217"/>
            <a:chExt cx="2142308" cy="1854926"/>
          </a:xfrm>
        </p:grpSpPr>
        <p:sp>
          <p:nvSpPr>
            <p:cNvPr id="56" name="Rectangle 55"/>
            <p:cNvSpPr/>
            <p:nvPr/>
          </p:nvSpPr>
          <p:spPr>
            <a:xfrm>
              <a:off x="757646" y="1084217"/>
              <a:ext cx="2142308" cy="18549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 flipH="1">
              <a:off x="1049588" y="1337950"/>
              <a:ext cx="1558423" cy="1389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002060"/>
                  </a:solidFill>
                </a:rPr>
                <a:t>View Resolver</a:t>
              </a:r>
              <a:endParaRPr lang="en-IN" b="1" dirty="0">
                <a:solidFill>
                  <a:srgbClr val="002060"/>
                </a:solidFill>
              </a:endParaRPr>
            </a:p>
          </p:txBody>
        </p:sp>
      </p:grpSp>
      <p:cxnSp>
        <p:nvCxnSpPr>
          <p:cNvPr id="45" name="Straight Arrow Connector 44"/>
          <p:cNvCxnSpPr/>
          <p:nvPr/>
        </p:nvCxnSpPr>
        <p:spPr>
          <a:xfrm>
            <a:off x="3459553" y="2346292"/>
            <a:ext cx="29770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3459553" y="2980719"/>
            <a:ext cx="297704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flipV="1">
            <a:off x="2444637" y="1024222"/>
            <a:ext cx="1883214" cy="573952"/>
          </a:xfrm>
          <a:prstGeom prst="bentConnector3">
            <a:avLst>
              <a:gd name="adj1" fmla="val -63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/>
          <p:cNvCxnSpPr/>
          <p:nvPr/>
        </p:nvCxnSpPr>
        <p:spPr>
          <a:xfrm rot="10800000" flipV="1">
            <a:off x="3082835" y="1351030"/>
            <a:ext cx="1207069" cy="254747"/>
          </a:xfrm>
          <a:prstGeom prst="bentConnector3">
            <a:avLst>
              <a:gd name="adj1" fmla="val 9978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/>
          <p:cNvCxnSpPr/>
          <p:nvPr/>
        </p:nvCxnSpPr>
        <p:spPr>
          <a:xfrm>
            <a:off x="5682093" y="991131"/>
            <a:ext cx="1883214" cy="995901"/>
          </a:xfrm>
          <a:prstGeom prst="bentConnector3">
            <a:avLst>
              <a:gd name="adj1" fmla="val 99943"/>
            </a:avLst>
          </a:prstGeom>
          <a:ln>
            <a:prstDash val="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8" name="Elbow Connector 67"/>
          <p:cNvCxnSpPr/>
          <p:nvPr/>
        </p:nvCxnSpPr>
        <p:spPr>
          <a:xfrm rot="10800000">
            <a:off x="5644147" y="1438557"/>
            <a:ext cx="1200793" cy="545437"/>
          </a:xfrm>
          <a:prstGeom prst="bentConnector3">
            <a:avLst>
              <a:gd name="adj1" fmla="val -1145"/>
            </a:avLst>
          </a:prstGeom>
          <a:ln>
            <a:prstDash val="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Elbow Connector 69"/>
          <p:cNvCxnSpPr/>
          <p:nvPr/>
        </p:nvCxnSpPr>
        <p:spPr>
          <a:xfrm>
            <a:off x="3475282" y="3358240"/>
            <a:ext cx="2074309" cy="751529"/>
          </a:xfrm>
          <a:prstGeom prst="bentConnector3">
            <a:avLst>
              <a:gd name="adj1" fmla="val 10038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73"/>
          <p:cNvCxnSpPr/>
          <p:nvPr/>
        </p:nvCxnSpPr>
        <p:spPr>
          <a:xfrm rot="10800000">
            <a:off x="3459555" y="3597647"/>
            <a:ext cx="1150320" cy="501108"/>
          </a:xfrm>
          <a:prstGeom prst="bentConnector3">
            <a:avLst>
              <a:gd name="adj1" fmla="val 117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Elbow Connector 77"/>
          <p:cNvCxnSpPr/>
          <p:nvPr/>
        </p:nvCxnSpPr>
        <p:spPr>
          <a:xfrm rot="10800000" flipV="1">
            <a:off x="3603465" y="5007431"/>
            <a:ext cx="1988345" cy="1073734"/>
          </a:xfrm>
          <a:prstGeom prst="bentConnector3">
            <a:avLst>
              <a:gd name="adj1" fmla="val -587"/>
            </a:avLst>
          </a:prstGeom>
          <a:ln>
            <a:prstDash val="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flipV="1">
            <a:off x="3603464" y="5007432"/>
            <a:ext cx="1006413" cy="438905"/>
          </a:xfrm>
          <a:prstGeom prst="bentConnector3">
            <a:avLst>
              <a:gd name="adj1" fmla="val 100621"/>
            </a:avLst>
          </a:prstGeom>
          <a:ln>
            <a:prstDash val="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12" idx="1"/>
            <a:endCxn id="34" idx="2"/>
          </p:cNvCxnSpPr>
          <p:nvPr/>
        </p:nvCxnSpPr>
        <p:spPr>
          <a:xfrm rot="10800000">
            <a:off x="731961" y="3388771"/>
            <a:ext cx="1244205" cy="222318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15371" y="5544298"/>
            <a:ext cx="117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response</a:t>
            </a:r>
            <a:endParaRPr lang="en-IN" dirty="0"/>
          </a:p>
        </p:txBody>
      </p:sp>
      <p:grpSp>
        <p:nvGrpSpPr>
          <p:cNvPr id="61" name="Group 60"/>
          <p:cNvGrpSpPr/>
          <p:nvPr/>
        </p:nvGrpSpPr>
        <p:grpSpPr>
          <a:xfrm>
            <a:off x="10868992" y="1637462"/>
            <a:ext cx="1240521" cy="1824074"/>
            <a:chOff x="7443379" y="4189097"/>
            <a:chExt cx="1384662" cy="203602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2" name="Flowchart: Magnetic Disk 61"/>
            <p:cNvSpPr/>
            <p:nvPr/>
          </p:nvSpPr>
          <p:spPr>
            <a:xfrm>
              <a:off x="7443379" y="4189097"/>
              <a:ext cx="1384662" cy="2036020"/>
            </a:xfrm>
            <a:prstGeom prst="flowChartMagneticDisk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 flipH="1">
              <a:off x="7843022" y="5144101"/>
              <a:ext cx="585373" cy="412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0070C0"/>
                  </a:solidFill>
                </a:rPr>
                <a:t>DB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19923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78726"/>
            <a:ext cx="6730423" cy="492443"/>
          </a:xfrm>
        </p:spPr>
        <p:txBody>
          <a:bodyPr/>
          <a:lstStyle/>
          <a:p>
            <a:r>
              <a:rPr lang="en-IN" sz="3200" dirty="0"/>
              <a:t>Configuring DispatcherServlet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43540" y="804333"/>
            <a:ext cx="11904920" cy="5420784"/>
          </a:xfrm>
        </p:spPr>
        <p:txBody>
          <a:bodyPr/>
          <a:lstStyle/>
          <a:p>
            <a:pPr marL="101596" indent="0">
              <a:buNone/>
            </a:pPr>
            <a:r>
              <a:rPr lang="en-US" sz="2000" b="1" i="1" u="sng" dirty="0" smtClean="0">
                <a:solidFill>
                  <a:schemeClr val="tx1"/>
                </a:solidFill>
              </a:rPr>
              <a:t>web.xml</a:t>
            </a:r>
          </a:p>
          <a:p>
            <a:pPr marL="101596" indent="0">
              <a:lnSpc>
                <a:spcPct val="150000"/>
              </a:lnSpc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&lt;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web-app </a:t>
            </a:r>
            <a:r>
              <a:rPr lang="en-IN" sz="2130" dirty="0">
                <a:solidFill>
                  <a:srgbClr val="7F007F"/>
                </a:solidFill>
                <a:latin typeface="Roboto Condensed"/>
              </a:rPr>
              <a:t>xmlns:xsi</a:t>
            </a:r>
            <a:r>
              <a:rPr lang="en-IN" sz="2130" dirty="0">
                <a:latin typeface="Roboto Condensed"/>
              </a:rPr>
              <a:t>=</a:t>
            </a:r>
            <a:r>
              <a:rPr lang="en-IN" sz="2130" i="1" dirty="0">
                <a:solidFill>
                  <a:srgbClr val="2A00FF"/>
                </a:solidFill>
                <a:latin typeface="Roboto Condensed"/>
              </a:rPr>
              <a:t>"http://www.w3.org/2001/XMLSchema-instance"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7F"/>
                </a:solidFill>
                <a:latin typeface="Roboto Condensed"/>
              </a:rPr>
              <a:t>	xmlns</a:t>
            </a:r>
            <a:r>
              <a:rPr lang="en-IN" sz="2130" dirty="0">
                <a:latin typeface="Roboto Condensed"/>
              </a:rPr>
              <a:t>=</a:t>
            </a:r>
            <a:r>
              <a:rPr lang="en-IN" sz="2130" i="1" dirty="0">
                <a:solidFill>
                  <a:srgbClr val="2A00FF"/>
                </a:solidFill>
                <a:latin typeface="Roboto Condensed"/>
              </a:rPr>
              <a:t>"http://xmlns.jcp.org/xml/ns/javaee"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7F"/>
                </a:solidFill>
                <a:latin typeface="Roboto Condensed"/>
              </a:rPr>
              <a:t>	xsi:schemaLocation</a:t>
            </a:r>
            <a:r>
              <a:rPr lang="en-IN" sz="2130" dirty="0">
                <a:latin typeface="Roboto Condensed"/>
              </a:rPr>
              <a:t>=</a:t>
            </a:r>
            <a:r>
              <a:rPr lang="en-IN" sz="2130" i="1" dirty="0">
                <a:solidFill>
                  <a:srgbClr val="2A00FF"/>
                </a:solidFill>
                <a:latin typeface="Roboto Condensed"/>
              </a:rPr>
              <a:t>"http://</a:t>
            </a:r>
            <a:r>
              <a:rPr lang="en-IN" sz="2130" i="1" dirty="0" smtClean="0">
                <a:solidFill>
                  <a:srgbClr val="2A00FF"/>
                </a:solidFill>
                <a:latin typeface="Roboto Condensed"/>
              </a:rPr>
              <a:t>xmlns.jcp.org/xml/ns/javaee</a:t>
            </a:r>
          </a:p>
          <a:p>
            <a:pPr marL="101596" indent="0">
              <a:buNone/>
            </a:pPr>
            <a:r>
              <a:rPr lang="en-IN" sz="2130" i="1" dirty="0">
                <a:solidFill>
                  <a:srgbClr val="2A00FF"/>
                </a:solidFill>
                <a:latin typeface="Roboto Condensed"/>
              </a:rPr>
              <a:t>	http://xmlns.jcp.org/xml/ns/javaee/web-app_4_0.xsd “ </a:t>
            </a:r>
            <a:r>
              <a:rPr lang="en-IN" sz="2130" dirty="0" smtClean="0">
                <a:solidFill>
                  <a:srgbClr val="7F007F"/>
                </a:solidFill>
                <a:latin typeface="Roboto Condensed"/>
              </a:rPr>
              <a:t>version</a:t>
            </a:r>
            <a:r>
              <a:rPr lang="en-IN" sz="2130" dirty="0" smtClean="0">
                <a:latin typeface="Roboto Condensed"/>
              </a:rPr>
              <a:t>=</a:t>
            </a:r>
            <a:r>
              <a:rPr lang="en-IN" sz="2130" i="1" dirty="0" smtClean="0">
                <a:solidFill>
                  <a:srgbClr val="2A00FF"/>
                </a:solidFill>
                <a:latin typeface="Roboto Condensed"/>
              </a:rPr>
              <a:t>"4.0"</a:t>
            </a:r>
            <a:r>
              <a:rPr lang="en-IN" sz="2130" i="1" dirty="0" smtClean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2130" dirty="0">
                <a:solidFill>
                  <a:srgbClr val="008080"/>
                </a:solidFill>
                <a:latin typeface="Roboto Condensed"/>
              </a:rPr>
              <a:t>	</a:t>
            </a: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&lt;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display-name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2130" dirty="0">
                <a:latin typeface="Roboto Condensed"/>
              </a:rPr>
              <a:t>emp-springmvc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display-name</a:t>
            </a: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&gt;</a:t>
            </a:r>
            <a:endParaRPr lang="en-IN" sz="213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	&lt;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servlet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		&lt;</a:t>
            </a:r>
            <a:r>
              <a:rPr lang="en-IN" sz="2130" dirty="0" smtClean="0">
                <a:solidFill>
                  <a:srgbClr val="3F7F7F"/>
                </a:solidFill>
                <a:latin typeface="Roboto Condensed"/>
              </a:rPr>
              <a:t>servlet-name</a:t>
            </a: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2130" dirty="0" smtClean="0">
                <a:latin typeface="Roboto Condensed"/>
              </a:rPr>
              <a:t>dispatcher</a:t>
            </a: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servlet-name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		&lt;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servlet-class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2130" dirty="0">
                <a:latin typeface="Roboto Condensed"/>
              </a:rPr>
              <a:t>org.springframework.web.servlet.DispatcherServlet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servlet-class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	&lt;/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servlet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	&lt;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servlet-mapping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		&lt;</a:t>
            </a:r>
            <a:r>
              <a:rPr lang="en-IN" sz="2130" dirty="0" smtClean="0">
                <a:solidFill>
                  <a:srgbClr val="3F7F7F"/>
                </a:solidFill>
                <a:latin typeface="Roboto Condensed"/>
              </a:rPr>
              <a:t>servlet-name</a:t>
            </a: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2130" dirty="0" smtClean="0">
                <a:latin typeface="Roboto Condensed"/>
              </a:rPr>
              <a:t>dispatcher</a:t>
            </a: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servlet-name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		&lt;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url-pattern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2130" dirty="0">
                <a:latin typeface="Roboto Condensed"/>
              </a:rPr>
              <a:t>/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url-pattern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	&lt;/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servlet-mapping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2130" dirty="0">
                <a:solidFill>
                  <a:srgbClr val="3F7F7F"/>
                </a:solidFill>
                <a:latin typeface="Roboto Condensed"/>
              </a:rPr>
              <a:t>web-app</a:t>
            </a:r>
            <a:r>
              <a:rPr lang="en-IN" sz="2130" dirty="0">
                <a:solidFill>
                  <a:srgbClr val="008080"/>
                </a:solidFill>
                <a:latin typeface="Roboto Condensed"/>
              </a:rPr>
              <a:t>&gt;</a:t>
            </a:r>
            <a:endParaRPr lang="en-US" sz="213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0478311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75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78726"/>
            <a:ext cx="6730423" cy="492443"/>
          </a:xfrm>
        </p:spPr>
        <p:txBody>
          <a:bodyPr/>
          <a:lstStyle/>
          <a:p>
            <a:r>
              <a:rPr lang="en-IN" sz="3200" dirty="0"/>
              <a:t>Configuring </a:t>
            </a:r>
            <a:r>
              <a:rPr lang="en-IN" sz="3200" dirty="0" smtClean="0"/>
              <a:t>DispatcherServlet…</a:t>
            </a:r>
            <a:endParaRPr lang="en-IN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8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Generally, </a:t>
            </a:r>
            <a:r>
              <a:rPr lang="en-US" dirty="0"/>
              <a:t>url-pattern for DispacherServlet </a:t>
            </a:r>
            <a:r>
              <a:rPr lang="en-US" dirty="0" smtClean="0"/>
              <a:t>will be “ / ”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/>
              <a:t>So that </a:t>
            </a:r>
            <a:r>
              <a:rPr lang="en-US" dirty="0" smtClean="0"/>
              <a:t>all the request will come to the </a:t>
            </a:r>
            <a:r>
              <a:rPr lang="en-US" dirty="0"/>
              <a:t>DispacherServlet </a:t>
            </a:r>
            <a:r>
              <a:rPr lang="en-US" dirty="0" smtClean="0"/>
              <a:t>first.</a:t>
            </a:r>
          </a:p>
          <a:p>
            <a:endParaRPr lang="en-US" dirty="0" smtClean="0"/>
          </a:p>
          <a:p>
            <a:r>
              <a:rPr lang="en-US" dirty="0" smtClean="0"/>
              <a:t>Then, based on the url DispatcherServlet forwards that request to the corresponding controller.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34712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</a:t>
            </a:r>
            <a:r>
              <a:rPr lang="en-US" dirty="0" smtClean="0"/>
              <a:t>base package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9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34471" y="804333"/>
            <a:ext cx="11778129" cy="5420784"/>
          </a:xfrm>
        </p:spPr>
        <p:txBody>
          <a:bodyPr/>
          <a:lstStyle/>
          <a:p>
            <a:pPr marL="101596" indent="0">
              <a:buNone/>
            </a:pPr>
            <a:r>
              <a:rPr lang="en-US" b="1" i="1" u="sng" dirty="0" smtClean="0"/>
              <a:t>dispatcher-servlet.xml</a:t>
            </a:r>
          </a:p>
          <a:p>
            <a:pPr marL="101596" indent="0">
              <a:lnSpc>
                <a:spcPct val="150000"/>
              </a:lnSpc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&lt;?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xml </a:t>
            </a:r>
            <a:r>
              <a:rPr lang="en-IN" sz="1800" dirty="0">
                <a:solidFill>
                  <a:srgbClr val="7F007F"/>
                </a:solidFill>
                <a:latin typeface="Roboto Condensed"/>
              </a:rPr>
              <a:t>version</a:t>
            </a:r>
            <a:r>
              <a:rPr lang="en-IN" sz="1800" dirty="0">
                <a:latin typeface="Roboto Condensed"/>
              </a:rPr>
              <a:t>=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"1.0" </a:t>
            </a:r>
            <a:r>
              <a:rPr lang="en-IN" sz="1800" i="1" dirty="0">
                <a:solidFill>
                  <a:srgbClr val="7F007F"/>
                </a:solidFill>
                <a:latin typeface="Roboto Condensed"/>
              </a:rPr>
              <a:t>encoding</a:t>
            </a:r>
            <a:r>
              <a:rPr lang="en-IN" sz="1800" i="1" dirty="0">
                <a:latin typeface="Roboto Condensed"/>
              </a:rPr>
              <a:t>=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"UTF-8"</a:t>
            </a:r>
            <a:r>
              <a:rPr lang="en-IN" sz="1800" i="1" dirty="0">
                <a:solidFill>
                  <a:srgbClr val="008080"/>
                </a:solidFill>
                <a:latin typeface="Roboto Condensed"/>
              </a:rPr>
              <a:t>?&gt;</a:t>
            </a: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beans </a:t>
            </a:r>
            <a:r>
              <a:rPr lang="en-IN" sz="1800" dirty="0">
                <a:solidFill>
                  <a:srgbClr val="7F007F"/>
                </a:solidFill>
                <a:latin typeface="Roboto Condensed"/>
              </a:rPr>
              <a:t>xmlns</a:t>
            </a:r>
            <a:r>
              <a:rPr lang="en-IN" sz="1800" dirty="0">
                <a:latin typeface="Roboto Condensed"/>
              </a:rPr>
              <a:t>=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"http://www.springframework.org/schema/beans"</a:t>
            </a:r>
          </a:p>
          <a:p>
            <a:pPr marL="101596" indent="0">
              <a:buNone/>
            </a:pPr>
            <a:r>
              <a:rPr lang="en-IN" sz="1800" dirty="0" smtClean="0">
                <a:solidFill>
                  <a:srgbClr val="7F007F"/>
                </a:solidFill>
                <a:latin typeface="Roboto Condensed"/>
              </a:rPr>
              <a:t>    xmlns:context</a:t>
            </a:r>
            <a:r>
              <a:rPr lang="en-IN" sz="1800" dirty="0">
                <a:latin typeface="Roboto Condensed"/>
              </a:rPr>
              <a:t>=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"http://www.springframework.org/schema/context"</a:t>
            </a:r>
          </a:p>
          <a:p>
            <a:pPr marL="101596" indent="0">
              <a:buNone/>
            </a:pPr>
            <a:r>
              <a:rPr lang="en-IN" sz="1800" dirty="0" smtClean="0">
                <a:solidFill>
                  <a:srgbClr val="7F007F"/>
                </a:solidFill>
                <a:latin typeface="Roboto Condensed"/>
              </a:rPr>
              <a:t>    xmlns:mvc</a:t>
            </a:r>
            <a:r>
              <a:rPr lang="en-IN" sz="1800" dirty="0">
                <a:latin typeface="Roboto Condensed"/>
              </a:rPr>
              <a:t>=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"http://www.springframework.org/schema/mvc"</a:t>
            </a:r>
          </a:p>
          <a:p>
            <a:pPr marL="101596" indent="0">
              <a:buNone/>
            </a:pPr>
            <a:r>
              <a:rPr lang="en-IN" sz="1800" dirty="0" smtClean="0">
                <a:solidFill>
                  <a:srgbClr val="7F007F"/>
                </a:solidFill>
                <a:latin typeface="Roboto Condensed"/>
              </a:rPr>
              <a:t>    xmlns:xsi</a:t>
            </a:r>
            <a:r>
              <a:rPr lang="en-IN" sz="1800" dirty="0">
                <a:latin typeface="Roboto Condensed"/>
              </a:rPr>
              <a:t>=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"http://www.w3.org/2001/XMLSchema-instance"</a:t>
            </a:r>
          </a:p>
          <a:p>
            <a:pPr marL="101596" indent="0">
              <a:buNone/>
            </a:pPr>
            <a:r>
              <a:rPr lang="en-IN" sz="1800" dirty="0" smtClean="0">
                <a:solidFill>
                  <a:srgbClr val="7F007F"/>
                </a:solidFill>
                <a:latin typeface="Roboto Condensed"/>
              </a:rPr>
              <a:t>    xsi:schemaLocation</a:t>
            </a:r>
            <a:r>
              <a:rPr lang="en-IN" sz="1800" dirty="0">
                <a:latin typeface="Roboto Condensed"/>
              </a:rPr>
              <a:t>=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"http://www.springframework.org/schema/beans</a:t>
            </a:r>
          </a:p>
          <a:p>
            <a:pPr marL="101596" indent="0">
              <a:buNone/>
            </a:pP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 </a:t>
            </a:r>
            <a:r>
              <a:rPr lang="en-IN" sz="1800" i="1" dirty="0" smtClean="0">
                <a:solidFill>
                  <a:srgbClr val="2A00FF"/>
                </a:solidFill>
                <a:latin typeface="Roboto Condensed"/>
              </a:rPr>
              <a:t>   http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://www.springframework.org/schema/beans/spring-beans.xsd</a:t>
            </a:r>
          </a:p>
          <a:p>
            <a:pPr marL="101596" indent="0">
              <a:buNone/>
            </a:pPr>
            <a:r>
              <a:rPr lang="en-IN" sz="1800" i="1" dirty="0" smtClean="0">
                <a:solidFill>
                  <a:srgbClr val="2A00FF"/>
                </a:solidFill>
                <a:latin typeface="Roboto Condensed"/>
              </a:rPr>
              <a:t>    http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://www.springframework.org/schema/context</a:t>
            </a:r>
          </a:p>
          <a:p>
            <a:pPr marL="101596" indent="0">
              <a:buNone/>
            </a:pP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    http://www.springframework.org/schema/context/spring-context-3.0.xsd</a:t>
            </a:r>
          </a:p>
          <a:p>
            <a:pPr marL="101596" indent="0">
              <a:buNone/>
            </a:pP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    http://www.springframework.org/schema/mvc</a:t>
            </a:r>
          </a:p>
          <a:p>
            <a:pPr marL="101596" indent="0">
              <a:buNone/>
            </a:pP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    http://www.springframework.org/schema/mvc/spring-mvc-3.0.xsd"</a:t>
            </a:r>
            <a:r>
              <a:rPr lang="en-IN" sz="1800" i="1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100" dirty="0">
                <a:latin typeface="Roboto Condensed"/>
              </a:rPr>
              <a:t>    </a:t>
            </a:r>
          </a:p>
          <a:p>
            <a:pPr marL="101596" indent="0">
              <a:buNone/>
            </a:pPr>
            <a:r>
              <a:rPr lang="en-IN" sz="1800" dirty="0">
                <a:latin typeface="Roboto Condensed"/>
              </a:rPr>
              <a:t>    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context:component-scan </a:t>
            </a:r>
            <a:r>
              <a:rPr lang="en-IN" sz="1800" dirty="0">
                <a:solidFill>
                  <a:srgbClr val="7F007F"/>
                </a:solidFill>
                <a:latin typeface="Roboto Condensed"/>
              </a:rPr>
              <a:t>base-package</a:t>
            </a:r>
            <a:r>
              <a:rPr lang="en-IN" sz="1800" dirty="0">
                <a:latin typeface="Roboto Condensed"/>
              </a:rPr>
              <a:t>=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"com.testyantra.emp"</a:t>
            </a:r>
            <a:r>
              <a:rPr lang="en-IN" sz="1800" i="1" dirty="0">
                <a:solidFill>
                  <a:srgbClr val="008080"/>
                </a:solidFill>
                <a:latin typeface="Roboto Condensed"/>
              </a:rPr>
              <a:t>&gt;&lt;/</a:t>
            </a:r>
            <a:r>
              <a:rPr lang="en-IN" sz="1800" i="1" dirty="0">
                <a:solidFill>
                  <a:srgbClr val="3F7F7F"/>
                </a:solidFill>
                <a:latin typeface="Roboto Condensed"/>
              </a:rPr>
              <a:t>context:component-scan</a:t>
            </a:r>
            <a:r>
              <a:rPr lang="en-IN" sz="1800" i="1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100" dirty="0">
                <a:latin typeface="Roboto Condensed"/>
              </a:rPr>
              <a:t>    </a:t>
            </a:r>
          </a:p>
          <a:p>
            <a:pPr marL="101596" indent="0">
              <a:buNone/>
            </a:pPr>
            <a:r>
              <a:rPr lang="en-IN" sz="1800" dirty="0">
                <a:latin typeface="Roboto Condensed"/>
              </a:rPr>
              <a:t>    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bean </a:t>
            </a:r>
            <a:r>
              <a:rPr lang="en-IN" sz="1800" dirty="0">
                <a:solidFill>
                  <a:srgbClr val="7F007F"/>
                </a:solidFill>
                <a:latin typeface="Roboto Condensed"/>
              </a:rPr>
              <a:t>class</a:t>
            </a:r>
            <a:r>
              <a:rPr lang="en-IN" sz="1800" dirty="0">
                <a:latin typeface="Roboto Condensed"/>
              </a:rPr>
              <a:t>=</a:t>
            </a:r>
            <a:r>
              <a:rPr lang="en-IN" sz="1800" i="1" dirty="0">
                <a:solidFill>
                  <a:srgbClr val="2A00FF"/>
                </a:solidFill>
                <a:latin typeface="Roboto Condensed"/>
              </a:rPr>
              <a:t>"org.springframework.web.servlet.view.InternalResourceViewResolver</a:t>
            </a:r>
            <a:r>
              <a:rPr lang="en-IN" sz="1800" i="1" dirty="0" smtClean="0">
                <a:solidFill>
                  <a:srgbClr val="2A00FF"/>
                </a:solidFill>
                <a:latin typeface="Roboto Condensed"/>
              </a:rPr>
              <a:t>"</a:t>
            </a:r>
            <a:r>
              <a:rPr lang="en-IN" sz="1800" i="1" dirty="0" smtClean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i="1" dirty="0">
                <a:solidFill>
                  <a:srgbClr val="008080"/>
                </a:solidFill>
                <a:latin typeface="Roboto Condensed"/>
              </a:rPr>
              <a:t>	</a:t>
            </a:r>
            <a:r>
              <a:rPr lang="en-US" sz="1800" dirty="0" smtClean="0">
                <a:solidFill>
                  <a:srgbClr val="008080"/>
                </a:solidFill>
                <a:latin typeface="Roboto Condensed"/>
              </a:rPr>
              <a:t>&lt;</a:t>
            </a:r>
            <a:r>
              <a:rPr lang="en-US" sz="1800" dirty="0">
                <a:solidFill>
                  <a:srgbClr val="3F7F7F"/>
                </a:solidFill>
                <a:latin typeface="Roboto Condensed"/>
              </a:rPr>
              <a:t>property </a:t>
            </a:r>
            <a:r>
              <a:rPr lang="en-US" sz="1800" dirty="0">
                <a:solidFill>
                  <a:srgbClr val="7F007F"/>
                </a:solidFill>
                <a:latin typeface="Roboto Condensed"/>
              </a:rPr>
              <a:t>name</a:t>
            </a:r>
            <a:r>
              <a:rPr lang="en-US" sz="1800" dirty="0">
                <a:latin typeface="Roboto Condensed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Roboto Condensed"/>
              </a:rPr>
              <a:t>"prefix" </a:t>
            </a:r>
            <a:r>
              <a:rPr lang="en-US" sz="1800" i="1" dirty="0">
                <a:solidFill>
                  <a:srgbClr val="7F007F"/>
                </a:solidFill>
                <a:latin typeface="Roboto Condensed"/>
              </a:rPr>
              <a:t>value</a:t>
            </a:r>
            <a:r>
              <a:rPr lang="en-US" sz="1800" i="1" dirty="0">
                <a:latin typeface="Roboto Condensed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Roboto Condensed"/>
              </a:rPr>
              <a:t>"/WEB-INF/views/"</a:t>
            </a:r>
            <a:r>
              <a:rPr lang="en-US" sz="1800" i="1" dirty="0">
                <a:solidFill>
                  <a:srgbClr val="008080"/>
                </a:solidFill>
                <a:latin typeface="Roboto Condensed"/>
              </a:rPr>
              <a:t>&gt;&lt;/</a:t>
            </a:r>
            <a:r>
              <a:rPr lang="en-US" sz="1800" i="1" dirty="0">
                <a:solidFill>
                  <a:srgbClr val="3F7F7F"/>
                </a:solidFill>
                <a:latin typeface="Roboto Condensed"/>
              </a:rPr>
              <a:t>property</a:t>
            </a:r>
            <a:r>
              <a:rPr lang="en-US" sz="1800" i="1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US" sz="1800" dirty="0" smtClean="0">
                <a:solidFill>
                  <a:srgbClr val="008080"/>
                </a:solidFill>
                <a:latin typeface="Roboto Condensed"/>
              </a:rPr>
              <a:t>	&lt;</a:t>
            </a:r>
            <a:r>
              <a:rPr lang="en-US" sz="1800" dirty="0">
                <a:solidFill>
                  <a:srgbClr val="3F7F7F"/>
                </a:solidFill>
                <a:latin typeface="Roboto Condensed"/>
              </a:rPr>
              <a:t>property </a:t>
            </a:r>
            <a:r>
              <a:rPr lang="en-US" sz="1800" dirty="0">
                <a:solidFill>
                  <a:srgbClr val="7F007F"/>
                </a:solidFill>
                <a:latin typeface="Roboto Condensed"/>
              </a:rPr>
              <a:t>name</a:t>
            </a:r>
            <a:r>
              <a:rPr lang="en-US" sz="1800" dirty="0">
                <a:latin typeface="Roboto Condensed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Roboto Condensed"/>
              </a:rPr>
              <a:t>"suffix" </a:t>
            </a:r>
            <a:r>
              <a:rPr lang="en-US" sz="1800" i="1" dirty="0">
                <a:solidFill>
                  <a:srgbClr val="7F007F"/>
                </a:solidFill>
                <a:latin typeface="Roboto Condensed"/>
              </a:rPr>
              <a:t>value</a:t>
            </a:r>
            <a:r>
              <a:rPr lang="en-US" sz="1800" i="1" dirty="0">
                <a:latin typeface="Roboto Condensed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Roboto Condensed"/>
              </a:rPr>
              <a:t>".jsp"</a:t>
            </a:r>
            <a:r>
              <a:rPr lang="en-US" sz="1800" i="1" dirty="0">
                <a:solidFill>
                  <a:srgbClr val="008080"/>
                </a:solidFill>
                <a:latin typeface="Roboto Condensed"/>
              </a:rPr>
              <a:t>&gt;&lt;/</a:t>
            </a:r>
            <a:r>
              <a:rPr lang="en-US" sz="1800" i="1" dirty="0">
                <a:solidFill>
                  <a:srgbClr val="3F7F7F"/>
                </a:solidFill>
                <a:latin typeface="Roboto Condensed"/>
              </a:rPr>
              <a:t>property</a:t>
            </a:r>
            <a:r>
              <a:rPr lang="en-US" sz="1800" i="1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dirty="0">
                <a:latin typeface="Roboto Condensed"/>
              </a:rPr>
              <a:t>    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bean</a:t>
            </a:r>
            <a:r>
              <a:rPr lang="en-IN" sz="1800" dirty="0" smtClean="0">
                <a:solidFill>
                  <a:srgbClr val="008080"/>
                </a:solidFill>
                <a:latin typeface="Roboto Condensed"/>
              </a:rPr>
              <a:t>&gt;</a:t>
            </a:r>
            <a:endParaRPr lang="en-IN" sz="1800" dirty="0">
              <a:latin typeface="Roboto Condensed"/>
            </a:endParaRP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beans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&gt;</a:t>
            </a:r>
            <a:endParaRPr lang="en-US" sz="180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34379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base </a:t>
            </a:r>
            <a:r>
              <a:rPr lang="en-US" dirty="0" smtClean="0"/>
              <a:t>package…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10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731520"/>
            <a:ext cx="11633200" cy="5730059"/>
          </a:xfrm>
        </p:spPr>
        <p:txBody>
          <a:bodyPr/>
          <a:lstStyle/>
          <a:p>
            <a:r>
              <a:rPr lang="en-US" sz="2000" dirty="0" smtClean="0"/>
              <a:t>The file name must be –</a:t>
            </a:r>
          </a:p>
          <a:p>
            <a:pPr marL="101596" indent="0">
              <a:buNone/>
            </a:pPr>
            <a:r>
              <a:rPr lang="en-US" sz="2000" dirty="0" smtClean="0"/>
              <a:t>		</a:t>
            </a:r>
            <a:r>
              <a:rPr lang="en-US" sz="2000" b="1" dirty="0" smtClean="0"/>
              <a:t>&lt;</a:t>
            </a:r>
            <a:r>
              <a:rPr lang="en-US" sz="2000" b="1" dirty="0"/>
              <a:t>servlet-name</a:t>
            </a:r>
            <a:r>
              <a:rPr lang="en-US" sz="2000" b="1" dirty="0" smtClean="0"/>
              <a:t>&gt;–servlet.xml</a:t>
            </a:r>
          </a:p>
          <a:p>
            <a:pPr marL="101596" indent="0">
              <a:buNone/>
            </a:pPr>
            <a:r>
              <a:rPr lang="en-US" sz="2000" dirty="0" smtClean="0"/>
              <a:t>	where, &lt;servlet-name&gt; will be the name for DispatcherServlet configured in </a:t>
            </a:r>
            <a:r>
              <a:rPr lang="en-US" sz="2000" i="1" dirty="0" smtClean="0"/>
              <a:t>“web.xml”.</a:t>
            </a:r>
          </a:p>
          <a:p>
            <a:pPr marL="101596" indent="0">
              <a:buNone/>
            </a:pPr>
            <a:r>
              <a:rPr lang="en-US" sz="2000" i="1" dirty="0"/>
              <a:t>	</a:t>
            </a:r>
            <a:r>
              <a:rPr lang="en-US" sz="2000" b="1" i="1" dirty="0" smtClean="0"/>
              <a:t>e.g. – </a:t>
            </a:r>
          </a:p>
          <a:p>
            <a:pPr marL="101596" indent="0">
              <a:buNone/>
            </a:pPr>
            <a:r>
              <a:rPr lang="en-US" sz="2000" i="1" dirty="0"/>
              <a:t>	</a:t>
            </a:r>
            <a:r>
              <a:rPr lang="en-US" sz="2000" i="1" dirty="0" smtClean="0"/>
              <a:t>	</a:t>
            </a:r>
            <a:r>
              <a:rPr lang="en-US" sz="2000" b="1" i="1" dirty="0" smtClean="0"/>
              <a:t>"dispatcher-servlet.xml</a:t>
            </a:r>
          </a:p>
          <a:p>
            <a:pPr marL="101596" indent="0">
              <a:buNone/>
            </a:pPr>
            <a:endParaRPr lang="en-US" sz="1000" i="1" dirty="0" smtClean="0"/>
          </a:p>
          <a:p>
            <a:r>
              <a:rPr lang="en-US" sz="2000" dirty="0" smtClean="0"/>
              <a:t>If you want to give </a:t>
            </a:r>
            <a:r>
              <a:rPr lang="en-US" sz="2000" i="1" dirty="0" smtClean="0"/>
              <a:t>different name </a:t>
            </a:r>
            <a:r>
              <a:rPr lang="en-US" sz="2000" dirty="0" smtClean="0"/>
              <a:t>for this file, then you will have to </a:t>
            </a:r>
            <a:r>
              <a:rPr lang="en-US" sz="2000" dirty="0"/>
              <a:t>configure </a:t>
            </a:r>
            <a:r>
              <a:rPr lang="en-US" sz="2000" b="1" dirty="0"/>
              <a:t>&lt;init-param</a:t>
            </a:r>
            <a:r>
              <a:rPr lang="en-US" sz="2000" b="1" dirty="0" smtClean="0"/>
              <a:t>&gt;</a:t>
            </a:r>
            <a:r>
              <a:rPr lang="en-US" sz="2000" dirty="0" smtClean="0"/>
              <a:t> for </a:t>
            </a:r>
            <a:r>
              <a:rPr lang="en-US" sz="2000" i="1" dirty="0" smtClean="0"/>
              <a:t>‘</a:t>
            </a:r>
            <a:r>
              <a:rPr lang="en-US" sz="2000" i="1" u="sng" dirty="0" smtClean="0"/>
              <a:t>DispatcherServlet</a:t>
            </a:r>
            <a:r>
              <a:rPr lang="en-US" sz="2000" i="1" dirty="0" smtClean="0"/>
              <a:t>’</a:t>
            </a:r>
            <a:r>
              <a:rPr lang="en-US" sz="2000" dirty="0" smtClean="0"/>
              <a:t> in “</a:t>
            </a:r>
            <a:r>
              <a:rPr lang="en-US" sz="2000" b="1" i="1" dirty="0" smtClean="0"/>
              <a:t>web.xml</a:t>
            </a:r>
            <a:r>
              <a:rPr lang="en-US" sz="2000" i="1" dirty="0" smtClean="0"/>
              <a:t>”.	</a:t>
            </a:r>
            <a:r>
              <a:rPr lang="en-US" sz="2000" b="1" i="1" u="sng" dirty="0" smtClean="0">
                <a:solidFill>
                  <a:schemeClr val="tx1"/>
                </a:solidFill>
              </a:rPr>
              <a:t>E.g.</a:t>
            </a:r>
            <a:r>
              <a:rPr lang="en-US" sz="2000" b="1" i="1" dirty="0">
                <a:solidFill>
                  <a:schemeClr val="tx1"/>
                </a:solidFill>
              </a:rPr>
              <a:t>-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smtClean="0"/>
              <a:t>If you want file name </a:t>
            </a:r>
            <a:r>
              <a:rPr lang="en-US" sz="2000" i="1" dirty="0"/>
              <a:t>as </a:t>
            </a:r>
            <a:r>
              <a:rPr lang="en-US" sz="2000" i="1" dirty="0" smtClean="0"/>
              <a:t>“</a:t>
            </a:r>
            <a:r>
              <a:rPr lang="en-US" sz="2000" b="1" i="1" dirty="0" smtClean="0"/>
              <a:t>applicationRoot.xml</a:t>
            </a:r>
            <a:r>
              <a:rPr lang="en-US" sz="2000" i="1" dirty="0" smtClean="0"/>
              <a:t>” then – </a:t>
            </a:r>
            <a:endParaRPr lang="en-US" sz="2000" b="1" i="1" dirty="0" smtClean="0"/>
          </a:p>
          <a:p>
            <a:pPr marL="101596" indent="0">
              <a:lnSpc>
                <a:spcPct val="150000"/>
              </a:lnSpc>
              <a:buNone/>
            </a:pPr>
            <a:r>
              <a:rPr lang="en-IN" sz="1800" dirty="0" smtClean="0">
                <a:solidFill>
                  <a:srgbClr val="008080"/>
                </a:solidFill>
                <a:latin typeface="Roboto Condensed"/>
              </a:rPr>
              <a:t>&lt;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servlet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	&lt;</a:t>
            </a:r>
            <a:r>
              <a:rPr lang="en-IN" sz="1800" dirty="0" smtClean="0">
                <a:solidFill>
                  <a:srgbClr val="3F7F7F"/>
                </a:solidFill>
                <a:latin typeface="Roboto Condensed"/>
              </a:rPr>
              <a:t>servlet-name</a:t>
            </a:r>
            <a:r>
              <a:rPr lang="en-IN" sz="1800" dirty="0" smtClean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1800" dirty="0" smtClean="0">
                <a:latin typeface="Roboto Condensed"/>
              </a:rPr>
              <a:t>dispatcher</a:t>
            </a:r>
            <a:r>
              <a:rPr lang="en-IN" sz="1800" dirty="0" smtClean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dirty="0" smtClean="0">
                <a:solidFill>
                  <a:srgbClr val="3F7F7F"/>
                </a:solidFill>
                <a:latin typeface="Roboto Condensed"/>
              </a:rPr>
              <a:t>servlet-name</a:t>
            </a:r>
            <a:r>
              <a:rPr lang="en-IN" sz="1800" dirty="0" smtClean="0">
                <a:solidFill>
                  <a:srgbClr val="008080"/>
                </a:solidFill>
                <a:latin typeface="Roboto Condensed"/>
              </a:rPr>
              <a:t>&gt;</a:t>
            </a:r>
            <a:endParaRPr lang="en-IN" sz="1800" dirty="0">
              <a:solidFill>
                <a:srgbClr val="008080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	&lt;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servlet-class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1800" dirty="0">
                <a:latin typeface="Roboto Condensed"/>
              </a:rPr>
              <a:t>org.springframework.web.servlet.DispatcherServlet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servlet-class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	</a:t>
            </a: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&lt;</a:t>
            </a:r>
            <a:r>
              <a:rPr lang="en-IN" sz="1800" b="1" dirty="0">
                <a:solidFill>
                  <a:srgbClr val="3F7F7F"/>
                </a:solidFill>
                <a:latin typeface="Roboto Condensed"/>
              </a:rPr>
              <a:t>init-param</a:t>
            </a: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&gt;</a:t>
            </a:r>
            <a:endParaRPr lang="en-IN" sz="1800" b="1" dirty="0">
              <a:latin typeface="Roboto Condensed"/>
            </a:endParaRPr>
          </a:p>
          <a:p>
            <a:pPr marL="101596" indent="0">
              <a:buNone/>
            </a:pP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		&lt;</a:t>
            </a:r>
            <a:r>
              <a:rPr lang="en-IN" sz="1800" b="1" dirty="0">
                <a:solidFill>
                  <a:srgbClr val="3F7F7F"/>
                </a:solidFill>
                <a:latin typeface="Roboto Condensed"/>
              </a:rPr>
              <a:t>param-name</a:t>
            </a: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1800" b="1" dirty="0">
                <a:latin typeface="Roboto Condensed"/>
              </a:rPr>
              <a:t>contextConfigLocation</a:t>
            </a: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b="1" dirty="0">
                <a:solidFill>
                  <a:srgbClr val="3F7F7F"/>
                </a:solidFill>
                <a:latin typeface="Roboto Condensed"/>
              </a:rPr>
              <a:t>param-name</a:t>
            </a: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		&lt;</a:t>
            </a:r>
            <a:r>
              <a:rPr lang="en-IN" sz="1800" b="1" dirty="0">
                <a:solidFill>
                  <a:srgbClr val="3F7F7F"/>
                </a:solidFill>
                <a:latin typeface="Roboto Condensed"/>
              </a:rPr>
              <a:t>param-value</a:t>
            </a: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1800" b="1" dirty="0">
                <a:latin typeface="Roboto Condensed"/>
              </a:rPr>
              <a:t>/WEB-INF/applicationRoot.xml</a:t>
            </a: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b="1" dirty="0">
                <a:solidFill>
                  <a:srgbClr val="3F7F7F"/>
                </a:solidFill>
                <a:latin typeface="Roboto Condensed"/>
              </a:rPr>
              <a:t>param-value</a:t>
            </a: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	&lt;/</a:t>
            </a:r>
            <a:r>
              <a:rPr lang="en-IN" sz="1800" b="1" dirty="0">
                <a:solidFill>
                  <a:srgbClr val="3F7F7F"/>
                </a:solidFill>
                <a:latin typeface="Roboto Condensed"/>
              </a:rPr>
              <a:t>init-param</a:t>
            </a:r>
            <a:r>
              <a:rPr lang="en-IN" sz="1800" b="1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servlet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servlet-mapping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	&lt;</a:t>
            </a:r>
            <a:r>
              <a:rPr lang="en-IN" sz="1800" dirty="0" smtClean="0">
                <a:solidFill>
                  <a:srgbClr val="3F7F7F"/>
                </a:solidFill>
                <a:latin typeface="Roboto Condensed"/>
              </a:rPr>
              <a:t>servlet-name</a:t>
            </a:r>
            <a:r>
              <a:rPr lang="en-IN" sz="1800" dirty="0" smtClean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1800" dirty="0">
                <a:latin typeface="Roboto Condensed"/>
              </a:rPr>
              <a:t>dispatcher</a:t>
            </a:r>
            <a:r>
              <a:rPr lang="en-IN" sz="1800" dirty="0" smtClean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servlet-name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	&lt;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url-pattern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&gt;</a:t>
            </a:r>
            <a:r>
              <a:rPr lang="en-IN" sz="1800" dirty="0">
                <a:latin typeface="Roboto Condensed"/>
              </a:rPr>
              <a:t>/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url-pattern</a:t>
            </a:r>
            <a:r>
              <a:rPr lang="en-IN" sz="1800" dirty="0">
                <a:solidFill>
                  <a:srgbClr val="008080"/>
                </a:solidFill>
                <a:latin typeface="Roboto Condensed"/>
              </a:rPr>
              <a:t>&gt;</a:t>
            </a:r>
          </a:p>
          <a:p>
            <a:pPr marL="101596" indent="0">
              <a:buNone/>
            </a:pPr>
            <a:r>
              <a:rPr lang="en-IN" sz="1800" dirty="0">
                <a:solidFill>
                  <a:srgbClr val="008080"/>
                </a:solidFill>
                <a:latin typeface="Roboto Condensed"/>
              </a:rPr>
              <a:t>&lt;/</a:t>
            </a:r>
            <a:r>
              <a:rPr lang="en-IN" sz="1800" dirty="0">
                <a:solidFill>
                  <a:srgbClr val="3F7F7F"/>
                </a:solidFill>
                <a:latin typeface="Roboto Condensed"/>
              </a:rPr>
              <a:t>servlet-mapping</a:t>
            </a:r>
            <a:r>
              <a:rPr lang="en-IN" sz="1800" dirty="0" smtClean="0">
                <a:solidFill>
                  <a:srgbClr val="008080"/>
                </a:solidFill>
                <a:latin typeface="Roboto Condensed"/>
              </a:rPr>
              <a:t>&gt;</a:t>
            </a:r>
            <a:endParaRPr lang="en-US" i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744891" y="3709855"/>
            <a:ext cx="2329381" cy="83099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Here &lt;param-name&gt; must be –</a:t>
            </a:r>
          </a:p>
          <a:p>
            <a:r>
              <a:rPr lang="en-US" sz="1600" i="1" dirty="0" smtClean="0"/>
              <a:t>“contextConfigLocation”</a:t>
            </a:r>
            <a:endParaRPr lang="en-IN" sz="1600" i="1" dirty="0"/>
          </a:p>
        </p:txBody>
      </p:sp>
      <p:cxnSp>
        <p:nvCxnSpPr>
          <p:cNvPr id="24" name="Elbow Connector 23"/>
          <p:cNvCxnSpPr/>
          <p:nvPr/>
        </p:nvCxnSpPr>
        <p:spPr>
          <a:xfrm rot="10800000" flipV="1">
            <a:off x="5029199" y="4125353"/>
            <a:ext cx="4715692" cy="224576"/>
          </a:xfrm>
          <a:prstGeom prst="bentConnector3">
            <a:avLst>
              <a:gd name="adj1" fmla="val 10013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4203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5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5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5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3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35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5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5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3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 smtClean="0"/>
              <a:t>Controller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11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5953" y="753036"/>
            <a:ext cx="11633200" cy="5593976"/>
          </a:xfrm>
        </p:spPr>
        <p:txBody>
          <a:bodyPr/>
          <a:lstStyle/>
          <a:p>
            <a:endParaRPr lang="en-US" sz="2130" dirty="0" smtClean="0"/>
          </a:p>
          <a:p>
            <a:r>
              <a:rPr lang="en-US" sz="2130" dirty="0" smtClean="0"/>
              <a:t>A class annotated with </a:t>
            </a:r>
            <a:r>
              <a:rPr lang="en-US" sz="2130" b="1" dirty="0" smtClean="0"/>
              <a:t>@Controller </a:t>
            </a:r>
            <a:r>
              <a:rPr lang="en-US" sz="2130" dirty="0" smtClean="0"/>
              <a:t>inside the base-package is treated as a controller.</a:t>
            </a:r>
          </a:p>
          <a:p>
            <a:endParaRPr lang="en-US" sz="2130" dirty="0"/>
          </a:p>
          <a:p>
            <a:r>
              <a:rPr lang="en-US" sz="2130" b="1" i="1" dirty="0"/>
              <a:t>@Controller</a:t>
            </a:r>
            <a:r>
              <a:rPr lang="en-US" sz="2130" b="1" dirty="0"/>
              <a:t> </a:t>
            </a:r>
            <a:r>
              <a:rPr lang="en-US" sz="2130" b="1" dirty="0" smtClean="0"/>
              <a:t>:- </a:t>
            </a:r>
            <a:r>
              <a:rPr lang="en-US" sz="2130" dirty="0" smtClean="0"/>
              <a:t>Indicates </a:t>
            </a:r>
            <a:r>
              <a:rPr lang="en-US" sz="2130" dirty="0"/>
              <a:t>that an annotated class is a "</a:t>
            </a:r>
            <a:r>
              <a:rPr lang="en-US" sz="2130" dirty="0" smtClean="0"/>
              <a:t>Controller“.</a:t>
            </a:r>
          </a:p>
          <a:p>
            <a:endParaRPr lang="en-US" sz="2130" dirty="0" smtClean="0"/>
          </a:p>
          <a:p>
            <a:r>
              <a:rPr lang="en-US" sz="2130" dirty="0" smtClean="0"/>
              <a:t>This controller has a request mapping for it. We use </a:t>
            </a:r>
            <a:r>
              <a:rPr lang="en-US" sz="2130" b="1" dirty="0" smtClean="0"/>
              <a:t>@RequestMapping</a:t>
            </a:r>
            <a:r>
              <a:rPr lang="en-US" sz="2130" dirty="0" smtClean="0"/>
              <a:t> annotation to map a request to this controller.</a:t>
            </a:r>
          </a:p>
          <a:p>
            <a:endParaRPr lang="en-US" sz="2130" dirty="0"/>
          </a:p>
          <a:p>
            <a:r>
              <a:rPr lang="en-US" sz="2130" b="1" i="1" dirty="0"/>
              <a:t>@RequestMapping</a:t>
            </a:r>
            <a:r>
              <a:rPr lang="en-US" sz="2130" b="1" dirty="0"/>
              <a:t> </a:t>
            </a:r>
            <a:r>
              <a:rPr lang="en-US" sz="2130" b="1" dirty="0" smtClean="0"/>
              <a:t>:- </a:t>
            </a:r>
            <a:r>
              <a:rPr lang="en-US" sz="2130" dirty="0" smtClean="0"/>
              <a:t>Annotation </a:t>
            </a:r>
            <a:r>
              <a:rPr lang="en-US" sz="2130" dirty="0"/>
              <a:t>for mapping web requests onto </a:t>
            </a:r>
            <a:r>
              <a:rPr lang="en-US" sz="2130" dirty="0" smtClean="0"/>
              <a:t>methods </a:t>
            </a:r>
            <a:r>
              <a:rPr lang="en-US" sz="2130" dirty="0"/>
              <a:t>in request-handling </a:t>
            </a:r>
            <a:r>
              <a:rPr lang="en-US" sz="2130" dirty="0" smtClean="0"/>
              <a:t>classes (Controllers) with </a:t>
            </a:r>
            <a:r>
              <a:rPr lang="en-US" sz="2130" dirty="0"/>
              <a:t>flexible method signatures. </a:t>
            </a:r>
            <a:endParaRPr lang="en-US" sz="2130" dirty="0" smtClean="0"/>
          </a:p>
          <a:p>
            <a:endParaRPr lang="en-US" sz="2130" b="1" dirty="0" smtClean="0"/>
          </a:p>
          <a:p>
            <a:pPr marL="101596" indent="0">
              <a:buNone/>
            </a:pPr>
            <a:r>
              <a:rPr lang="en-US" sz="2130" dirty="0" smtClean="0"/>
              <a:t>	</a:t>
            </a:r>
            <a:r>
              <a:rPr lang="en-IN" sz="2130" b="1" dirty="0" smtClean="0">
                <a:solidFill>
                  <a:srgbClr val="646464"/>
                </a:solidFill>
                <a:latin typeface="Roboto Condensed"/>
              </a:rPr>
              <a:t>@Controller</a:t>
            </a:r>
          </a:p>
          <a:p>
            <a:pPr marL="101596" indent="0">
              <a:buNone/>
            </a:pPr>
            <a:r>
              <a:rPr lang="en-IN" sz="2130" b="1" dirty="0">
                <a:solidFill>
                  <a:srgbClr val="646464"/>
                </a:solidFill>
                <a:latin typeface="Roboto Condensed"/>
              </a:rPr>
              <a:t>	</a:t>
            </a:r>
            <a:r>
              <a:rPr lang="en-IN" sz="2130" b="1" dirty="0" smtClean="0">
                <a:solidFill>
                  <a:srgbClr val="646464"/>
                </a:solidFill>
                <a:latin typeface="Roboto Condensed"/>
              </a:rPr>
              <a:t>@RequestMapping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"/abc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"</a:t>
            </a:r>
            <a:r>
              <a:rPr lang="en-IN" sz="2130" dirty="0" smtClean="0">
                <a:latin typeface="Roboto Condensed"/>
              </a:rPr>
              <a:t>)</a:t>
            </a:r>
          </a:p>
          <a:p>
            <a:pPr marL="101596" indent="0">
              <a:buNone/>
            </a:pPr>
            <a:r>
              <a:rPr lang="en-IN" sz="2130" dirty="0">
                <a:latin typeface="Roboto Condensed"/>
              </a:rPr>
              <a:t>	</a:t>
            </a: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solidFill>
                  <a:srgbClr val="7F0055"/>
                </a:solidFill>
                <a:latin typeface="Roboto Condensed"/>
              </a:rPr>
              <a:t>class </a:t>
            </a:r>
            <a:r>
              <a:rPr lang="en-US" sz="2130" dirty="0" smtClean="0"/>
              <a:t>MyController {</a:t>
            </a:r>
          </a:p>
          <a:p>
            <a:pPr marL="101596" indent="0">
              <a:buNone/>
            </a:pPr>
            <a:r>
              <a:rPr lang="en-US" sz="2130" dirty="0"/>
              <a:t>	</a:t>
            </a:r>
            <a:r>
              <a:rPr lang="en-US" sz="2130" dirty="0" smtClean="0"/>
              <a:t>	</a:t>
            </a:r>
            <a:r>
              <a:rPr lang="en-US" sz="2130" dirty="0" smtClean="0">
                <a:solidFill>
                  <a:schemeClr val="tx1"/>
                </a:solidFill>
              </a:rPr>
              <a:t>// ………</a:t>
            </a:r>
          </a:p>
          <a:p>
            <a:pPr marL="101596" indent="0">
              <a:buNone/>
            </a:pPr>
            <a:endParaRPr lang="en-US" sz="2130" dirty="0"/>
          </a:p>
          <a:p>
            <a:pPr marL="101596" indent="0">
              <a:buNone/>
            </a:pPr>
            <a:r>
              <a:rPr lang="en-US" sz="2130" dirty="0" smtClean="0"/>
              <a:t>	}</a:t>
            </a:r>
            <a:r>
              <a:rPr lang="en-US" sz="2130" dirty="0" smtClean="0">
                <a:solidFill>
                  <a:schemeClr val="accent3">
                    <a:lumMod val="75000"/>
                  </a:schemeClr>
                </a:solidFill>
              </a:rPr>
              <a:t>// End of Controller</a:t>
            </a:r>
            <a:endParaRPr lang="en-US" sz="213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610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17170"/>
            <a:ext cx="6730423" cy="615553"/>
          </a:xfrm>
        </p:spPr>
        <p:txBody>
          <a:bodyPr/>
          <a:lstStyle/>
          <a:p>
            <a:r>
              <a:rPr lang="en-IN" sz="4000" dirty="0" smtClean="0"/>
              <a:t>Handlers</a:t>
            </a:r>
            <a:r>
              <a:rPr lang="en-IN" sz="3200" dirty="0" smtClean="0"/>
              <a:t> (Controller Methods)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12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11627" y="804333"/>
            <a:ext cx="11768747" cy="5420784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A controller </a:t>
            </a:r>
            <a:r>
              <a:rPr lang="en-US" dirty="0"/>
              <a:t>should have one or more handler methods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Handler methods are annotated with </a:t>
            </a:r>
            <a:r>
              <a:rPr lang="en-US" b="1" dirty="0" smtClean="0"/>
              <a:t>@RequestMepping </a:t>
            </a:r>
            <a:r>
              <a:rPr lang="en-US" dirty="0" smtClean="0"/>
              <a:t>or </a:t>
            </a:r>
            <a:r>
              <a:rPr lang="en-US" b="1" dirty="0" smtClean="0"/>
              <a:t>@GetMepping </a:t>
            </a:r>
            <a:r>
              <a:rPr lang="en-US" dirty="0" smtClean="0"/>
              <a:t>or </a:t>
            </a:r>
            <a:r>
              <a:rPr lang="en-US" b="1" dirty="0" smtClean="0"/>
              <a:t>@PostMapping </a:t>
            </a:r>
            <a:r>
              <a:rPr lang="en-US" dirty="0" smtClean="0"/>
              <a:t>etc.</a:t>
            </a:r>
          </a:p>
          <a:p>
            <a:endParaRPr lang="en-US" b="1" dirty="0"/>
          </a:p>
          <a:p>
            <a:r>
              <a:rPr lang="en-US" dirty="0" smtClean="0"/>
              <a:t>These methods returns the view name in the form of </a:t>
            </a:r>
            <a:r>
              <a:rPr lang="en-US" b="1" dirty="0" smtClean="0"/>
              <a:t>ModelAndView</a:t>
            </a:r>
            <a:r>
              <a:rPr lang="en-US" dirty="0" smtClean="0"/>
              <a:t> object or </a:t>
            </a:r>
            <a:r>
              <a:rPr lang="en-US" b="1" dirty="0" smtClean="0"/>
              <a:t>String</a:t>
            </a:r>
            <a:r>
              <a:rPr lang="en-US" dirty="0" smtClean="0"/>
              <a:t>.</a:t>
            </a:r>
            <a:endParaRPr lang="en-US" dirty="0"/>
          </a:p>
          <a:p>
            <a:pPr marL="101596" indent="0">
              <a:buNone/>
            </a:pPr>
            <a:r>
              <a:rPr lang="en-US" b="1" i="1" dirty="0" smtClean="0"/>
              <a:t>E.g. –</a:t>
            </a:r>
          </a:p>
          <a:p>
            <a:pPr marL="101596" indent="0">
              <a:buNone/>
            </a:pPr>
            <a:endParaRPr lang="en-IN" sz="1800" dirty="0" smtClean="0">
              <a:solidFill>
                <a:srgbClr val="646464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1800" dirty="0" smtClean="0">
                <a:solidFill>
                  <a:srgbClr val="646464"/>
                </a:solidFill>
                <a:latin typeface="Roboto Condensed"/>
              </a:rPr>
              <a:t>@Controller			         @Controller</a:t>
            </a:r>
            <a:endParaRPr lang="en-IN" sz="1800" dirty="0">
              <a:solidFill>
                <a:srgbClr val="646464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1800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1800" dirty="0">
                <a:solidFill>
                  <a:srgbClr val="646464"/>
                </a:solidFill>
                <a:latin typeface="Roboto Condensed"/>
              </a:rPr>
              <a:t>RequestMapping</a:t>
            </a:r>
            <a:r>
              <a:rPr lang="en-IN" sz="1800" dirty="0" smtClean="0">
                <a:latin typeface="Roboto Condensed"/>
              </a:rPr>
              <a:t>(</a:t>
            </a:r>
            <a:r>
              <a:rPr lang="en-IN" sz="1800" dirty="0" smtClean="0">
                <a:solidFill>
                  <a:srgbClr val="2A00FF"/>
                </a:solidFill>
                <a:latin typeface="Roboto Condensed"/>
              </a:rPr>
              <a:t>"/abc"</a:t>
            </a:r>
            <a:r>
              <a:rPr lang="en-IN" sz="1800" dirty="0" smtClean="0">
                <a:latin typeface="Roboto Condensed"/>
              </a:rPr>
              <a:t>)	         </a:t>
            </a:r>
            <a:r>
              <a:rPr lang="en-IN" sz="1800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1800" dirty="0">
                <a:solidFill>
                  <a:srgbClr val="646464"/>
                </a:solidFill>
                <a:latin typeface="Roboto Condensed"/>
              </a:rPr>
              <a:t>RequestMapping</a:t>
            </a:r>
            <a:r>
              <a:rPr lang="en-IN" sz="1800" dirty="0">
                <a:latin typeface="Roboto Condensed"/>
              </a:rPr>
              <a:t>(</a:t>
            </a:r>
            <a:r>
              <a:rPr lang="en-IN" sz="1800" dirty="0">
                <a:solidFill>
                  <a:srgbClr val="2A00FF"/>
                </a:solidFill>
                <a:latin typeface="Roboto Condensed"/>
              </a:rPr>
              <a:t>"/abc</a:t>
            </a:r>
            <a:r>
              <a:rPr lang="en-IN" sz="1800" dirty="0" smtClean="0">
                <a:solidFill>
                  <a:srgbClr val="2A00FF"/>
                </a:solidFill>
                <a:latin typeface="Roboto Condensed"/>
              </a:rPr>
              <a:t>"</a:t>
            </a:r>
            <a:r>
              <a:rPr lang="en-IN" sz="1800" dirty="0" smtClean="0">
                <a:latin typeface="Roboto Condensed"/>
              </a:rPr>
              <a:t>)</a:t>
            </a:r>
            <a:endParaRPr lang="en-IN" sz="1800" dirty="0">
              <a:latin typeface="Roboto Condensed"/>
            </a:endParaRPr>
          </a:p>
          <a:p>
            <a:pPr marL="101596" indent="0">
              <a:buNone/>
            </a:pPr>
            <a:r>
              <a:rPr lang="en-IN" sz="1800" dirty="0" smtClean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1800" dirty="0" smtClean="0">
                <a:latin typeface="Roboto Condensed"/>
              </a:rPr>
              <a:t> </a:t>
            </a:r>
            <a:r>
              <a:rPr lang="en-IN" sz="1800" dirty="0">
                <a:solidFill>
                  <a:srgbClr val="7F0055"/>
                </a:solidFill>
                <a:latin typeface="Roboto Condensed"/>
              </a:rPr>
              <a:t>class</a:t>
            </a:r>
            <a:r>
              <a:rPr lang="en-IN" sz="1800" dirty="0">
                <a:latin typeface="Roboto Condensed"/>
              </a:rPr>
              <a:t> SessionController </a:t>
            </a:r>
            <a:r>
              <a:rPr lang="en-IN" sz="1800" dirty="0" smtClean="0">
                <a:latin typeface="Roboto Condensed"/>
              </a:rPr>
              <a:t>{	         </a:t>
            </a:r>
            <a:r>
              <a:rPr lang="en-IN" sz="1800" dirty="0" smtClean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1800" dirty="0" smtClean="0">
                <a:latin typeface="Roboto Condensed"/>
              </a:rPr>
              <a:t> </a:t>
            </a:r>
            <a:r>
              <a:rPr lang="en-IN" sz="1800" dirty="0">
                <a:solidFill>
                  <a:srgbClr val="7F0055"/>
                </a:solidFill>
                <a:latin typeface="Roboto Condensed"/>
              </a:rPr>
              <a:t>class</a:t>
            </a:r>
            <a:r>
              <a:rPr lang="en-IN" sz="1800" dirty="0">
                <a:latin typeface="Roboto Condensed"/>
              </a:rPr>
              <a:t> SessionController </a:t>
            </a:r>
            <a:r>
              <a:rPr lang="en-IN" sz="1800" dirty="0" smtClean="0">
                <a:latin typeface="Roboto Condensed"/>
              </a:rPr>
              <a:t>{</a:t>
            </a:r>
            <a:endParaRPr lang="en-IN" sz="1800" dirty="0">
              <a:latin typeface="Roboto Condensed"/>
            </a:endParaRPr>
          </a:p>
          <a:p>
            <a:pPr marL="101596" indent="0">
              <a:buNone/>
            </a:pPr>
            <a:endParaRPr lang="en-IN" sz="180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IN" sz="1800" b="1" dirty="0">
                <a:solidFill>
                  <a:srgbClr val="646464"/>
                </a:solidFill>
                <a:latin typeface="Roboto Condensed"/>
              </a:rPr>
              <a:t> </a:t>
            </a:r>
            <a:r>
              <a:rPr lang="en-IN" sz="1800" b="1" dirty="0" smtClean="0">
                <a:solidFill>
                  <a:srgbClr val="646464"/>
                </a:solidFill>
                <a:latin typeface="Roboto Condensed"/>
              </a:rPr>
              <a:t>      @GetMapping</a:t>
            </a:r>
            <a:r>
              <a:rPr lang="en-IN" sz="1800" dirty="0" smtClean="0">
                <a:latin typeface="Roboto Condensed"/>
              </a:rPr>
              <a:t>(</a:t>
            </a:r>
            <a:r>
              <a:rPr lang="en-IN" sz="1800" dirty="0" smtClean="0">
                <a:solidFill>
                  <a:srgbClr val="2A00FF"/>
                </a:solidFill>
                <a:latin typeface="Roboto Condensed"/>
              </a:rPr>
              <a:t>"/login"</a:t>
            </a:r>
            <a:r>
              <a:rPr lang="en-IN" sz="1800" dirty="0" smtClean="0">
                <a:latin typeface="Roboto Condensed"/>
              </a:rPr>
              <a:t>)</a:t>
            </a:r>
            <a:r>
              <a:rPr lang="en-IN" sz="1800" dirty="0">
                <a:latin typeface="Roboto Condensed"/>
              </a:rPr>
              <a:t>	</a:t>
            </a:r>
            <a:r>
              <a:rPr lang="en-IN" sz="1800" dirty="0" smtClean="0">
                <a:latin typeface="Roboto Condensed"/>
              </a:rPr>
              <a:t>	</a:t>
            </a:r>
            <a:r>
              <a:rPr lang="en-IN" sz="1800" b="1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1800" b="1" dirty="0">
                <a:solidFill>
                  <a:srgbClr val="646464"/>
                </a:solidFill>
                <a:latin typeface="Roboto Condensed"/>
              </a:rPr>
              <a:t>RequestMapping</a:t>
            </a:r>
            <a:r>
              <a:rPr lang="en-IN" sz="1800" dirty="0">
                <a:latin typeface="Roboto Condensed"/>
              </a:rPr>
              <a:t>(path = </a:t>
            </a:r>
            <a:r>
              <a:rPr lang="en-IN" sz="1800" dirty="0">
                <a:solidFill>
                  <a:srgbClr val="2A00FF"/>
                </a:solidFill>
                <a:latin typeface="Roboto Condensed"/>
              </a:rPr>
              <a:t>"/login"</a:t>
            </a:r>
            <a:r>
              <a:rPr lang="en-IN" sz="1800" dirty="0">
                <a:latin typeface="Roboto Condensed"/>
              </a:rPr>
              <a:t>, method = RequestMethod.</a:t>
            </a:r>
            <a:r>
              <a:rPr lang="en-IN" sz="1800" i="1" dirty="0">
                <a:solidFill>
                  <a:srgbClr val="0000C0"/>
                </a:solidFill>
                <a:latin typeface="Roboto Condensed"/>
              </a:rPr>
              <a:t>GET</a:t>
            </a:r>
            <a:r>
              <a:rPr lang="en-IN" sz="1800" i="1" dirty="0">
                <a:latin typeface="Roboto Condensed"/>
              </a:rPr>
              <a:t>)</a:t>
            </a:r>
            <a:endParaRPr lang="en-IN" sz="180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IN" sz="1800" dirty="0">
                <a:solidFill>
                  <a:srgbClr val="7F0055"/>
                </a:solidFill>
                <a:latin typeface="Roboto Condensed"/>
              </a:rPr>
              <a:t> </a:t>
            </a:r>
            <a:r>
              <a:rPr lang="en-IN" sz="1800" dirty="0" smtClean="0">
                <a:solidFill>
                  <a:srgbClr val="7F0055"/>
                </a:solidFill>
                <a:latin typeface="Roboto Condensed"/>
              </a:rPr>
              <a:t>      public</a:t>
            </a:r>
            <a:r>
              <a:rPr lang="en-IN" sz="1800" dirty="0" smtClean="0">
                <a:latin typeface="Roboto Condensed"/>
              </a:rPr>
              <a:t> </a:t>
            </a:r>
            <a:r>
              <a:rPr lang="en-IN" sz="1800" b="1" dirty="0">
                <a:latin typeface="Roboto Condensed"/>
              </a:rPr>
              <a:t>String</a:t>
            </a:r>
            <a:r>
              <a:rPr lang="en-IN" sz="1800" dirty="0">
                <a:latin typeface="Roboto Condensed"/>
              </a:rPr>
              <a:t> login() </a:t>
            </a:r>
            <a:r>
              <a:rPr lang="en-IN" sz="1800" dirty="0" smtClean="0">
                <a:latin typeface="Roboto Condensed"/>
              </a:rPr>
              <a:t>{			</a:t>
            </a:r>
            <a:r>
              <a:rPr lang="en-IN" sz="1800" dirty="0" smtClean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1800" dirty="0">
                <a:latin typeface="Roboto Condensed"/>
              </a:rPr>
              <a:t> </a:t>
            </a:r>
            <a:r>
              <a:rPr lang="en-IN" sz="1800" b="1" dirty="0">
                <a:latin typeface="Roboto Condensed"/>
              </a:rPr>
              <a:t>ModelAndView</a:t>
            </a:r>
            <a:r>
              <a:rPr lang="en-IN" sz="1800" dirty="0">
                <a:latin typeface="Roboto Condensed"/>
              </a:rPr>
              <a:t> </a:t>
            </a:r>
            <a:r>
              <a:rPr lang="en-IN" sz="1800" dirty="0" smtClean="0">
                <a:latin typeface="Roboto Condensed"/>
              </a:rPr>
              <a:t>login(</a:t>
            </a:r>
            <a:r>
              <a:rPr lang="en-IN" sz="1800" dirty="0">
                <a:latin typeface="Consolas" panose="020B0609020204030204" pitchFamily="49" charset="0"/>
              </a:rPr>
              <a:t>ModelAndView modelAndView</a:t>
            </a:r>
            <a:r>
              <a:rPr lang="en-IN" sz="1800" dirty="0" smtClean="0">
                <a:latin typeface="Roboto Condensed"/>
              </a:rPr>
              <a:t>) </a:t>
            </a:r>
            <a:r>
              <a:rPr lang="en-IN" sz="1800" dirty="0">
                <a:latin typeface="Roboto Condensed"/>
              </a:rPr>
              <a:t>{</a:t>
            </a:r>
          </a:p>
          <a:p>
            <a:pPr marL="101596" indent="0">
              <a:buNone/>
            </a:pPr>
            <a:r>
              <a:rPr lang="en-IN" sz="1800" dirty="0" smtClean="0">
                <a:solidFill>
                  <a:srgbClr val="7F0055"/>
                </a:solidFill>
                <a:latin typeface="Roboto Condensed"/>
              </a:rPr>
              <a:t>	return</a:t>
            </a:r>
            <a:r>
              <a:rPr lang="en-IN" sz="1800" dirty="0" smtClean="0">
                <a:latin typeface="Roboto Condensed"/>
              </a:rPr>
              <a:t> </a:t>
            </a:r>
            <a:r>
              <a:rPr lang="en-IN" sz="1800" dirty="0" smtClean="0">
                <a:solidFill>
                  <a:srgbClr val="2A00FF"/>
                </a:solidFill>
                <a:latin typeface="Roboto Condensed"/>
              </a:rPr>
              <a:t>"loginForm"</a:t>
            </a:r>
            <a:r>
              <a:rPr lang="en-IN" sz="1800" dirty="0" smtClean="0">
                <a:latin typeface="Roboto Condensed"/>
              </a:rPr>
              <a:t>;			</a:t>
            </a:r>
            <a:r>
              <a:rPr lang="en-IN" sz="1800" dirty="0">
                <a:solidFill>
                  <a:srgbClr val="6A3E3E"/>
                </a:solidFill>
                <a:latin typeface="Consolas" panose="020B0609020204030204" pitchFamily="49" charset="0"/>
              </a:rPr>
              <a:t> modelAndView</a:t>
            </a:r>
            <a:r>
              <a:rPr lang="en-IN" sz="1800" dirty="0">
                <a:latin typeface="Consolas" panose="020B0609020204030204" pitchFamily="49" charset="0"/>
              </a:rPr>
              <a:t>.setViewName</a:t>
            </a:r>
            <a:r>
              <a:rPr lang="en-IN" sz="1800" dirty="0" smtClean="0">
                <a:latin typeface="Consolas" panose="020B0609020204030204" pitchFamily="49" charset="0"/>
              </a:rPr>
              <a:t>(</a:t>
            </a:r>
            <a:r>
              <a:rPr lang="en-IN" sz="18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IN" sz="1800" dirty="0" smtClean="0">
                <a:solidFill>
                  <a:srgbClr val="2A00FF"/>
                </a:solidFill>
                <a:latin typeface="Roboto Condensed"/>
              </a:rPr>
              <a:t>loginForm</a:t>
            </a:r>
            <a:r>
              <a:rPr lang="en-IN" sz="18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IN" sz="1800" dirty="0" smtClean="0">
                <a:latin typeface="Consolas" panose="020B0609020204030204" pitchFamily="49" charset="0"/>
              </a:rPr>
              <a:t>);</a:t>
            </a:r>
            <a:endParaRPr lang="en-IN" sz="1800" dirty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1800" dirty="0" smtClean="0">
                <a:latin typeface="Roboto Condensed"/>
              </a:rPr>
              <a:t>       }</a:t>
            </a:r>
            <a:r>
              <a:rPr lang="en-IN" sz="1800" dirty="0" smtClean="0">
                <a:solidFill>
                  <a:srgbClr val="3F7F5F"/>
                </a:solidFill>
                <a:latin typeface="Roboto Condensed"/>
              </a:rPr>
              <a:t>// </a:t>
            </a:r>
            <a:r>
              <a:rPr lang="en-IN" sz="1800" dirty="0">
                <a:solidFill>
                  <a:srgbClr val="3F7F5F"/>
                </a:solidFill>
                <a:latin typeface="Roboto Condensed"/>
              </a:rPr>
              <a:t>End of login() </a:t>
            </a:r>
            <a:r>
              <a:rPr lang="en-IN" sz="1800" dirty="0">
                <a:solidFill>
                  <a:schemeClr val="tx1"/>
                </a:solidFill>
                <a:latin typeface="Roboto Condensed"/>
              </a:rPr>
              <a:t>	</a:t>
            </a:r>
            <a:r>
              <a:rPr lang="en-IN" sz="1800" dirty="0" smtClean="0">
                <a:solidFill>
                  <a:schemeClr val="tx1"/>
                </a:solidFill>
                <a:latin typeface="Roboto Condensed"/>
              </a:rPr>
              <a:t>			</a:t>
            </a:r>
            <a:r>
              <a:rPr lang="en-IN" sz="1800" dirty="0">
                <a:solidFill>
                  <a:srgbClr val="7F0055"/>
                </a:solidFill>
                <a:latin typeface="Roboto Condensed"/>
              </a:rPr>
              <a:t> </a:t>
            </a:r>
            <a:r>
              <a:rPr lang="en-IN" sz="18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6A3E3E"/>
                </a:solidFill>
                <a:latin typeface="Consolas" panose="020B0609020204030204" pitchFamily="49" charset="0"/>
              </a:rPr>
              <a:t>modelAndView</a:t>
            </a:r>
            <a:r>
              <a:rPr lang="en-IN" sz="1800" dirty="0" smtClean="0">
                <a:latin typeface="Consolas" panose="020B0609020204030204" pitchFamily="49" charset="0"/>
              </a:rPr>
              <a:t>;</a:t>
            </a:r>
            <a:endParaRPr lang="en-IN" sz="180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IN" sz="1800" dirty="0" smtClean="0">
                <a:solidFill>
                  <a:srgbClr val="3F7F5F"/>
                </a:solidFill>
                <a:latin typeface="Roboto Condensed"/>
              </a:rPr>
              <a:t>// End of Controller 			</a:t>
            </a:r>
            <a:r>
              <a:rPr lang="en-IN" sz="1800" dirty="0" smtClean="0">
                <a:latin typeface="Roboto Condensed"/>
              </a:rPr>
              <a:t>}</a:t>
            </a:r>
            <a:r>
              <a:rPr lang="en-IN" sz="1800" dirty="0" smtClean="0">
                <a:solidFill>
                  <a:srgbClr val="3F7F5F"/>
                </a:solidFill>
                <a:latin typeface="Roboto Condensed"/>
              </a:rPr>
              <a:t>// End of login()</a:t>
            </a:r>
            <a:endParaRPr lang="en-US" sz="180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IN" sz="1800" dirty="0" smtClean="0">
                <a:solidFill>
                  <a:srgbClr val="3F7F5F"/>
                </a:solidFill>
                <a:latin typeface="Roboto Condensed"/>
              </a:rPr>
              <a:t>				         </a:t>
            </a:r>
            <a:r>
              <a:rPr lang="en-IN" sz="1800" dirty="0" smtClean="0">
                <a:latin typeface="Roboto Condensed"/>
              </a:rPr>
              <a:t>}</a:t>
            </a:r>
            <a:r>
              <a:rPr lang="en-IN" sz="1800" dirty="0" smtClean="0">
                <a:solidFill>
                  <a:srgbClr val="3F7F5F"/>
                </a:solidFill>
                <a:latin typeface="Roboto Condensed"/>
              </a:rPr>
              <a:t>// </a:t>
            </a:r>
            <a:r>
              <a:rPr lang="en-IN" sz="1800" dirty="0">
                <a:solidFill>
                  <a:srgbClr val="3F7F5F"/>
                </a:solidFill>
                <a:latin typeface="Roboto Condensed"/>
              </a:rPr>
              <a:t>End of </a:t>
            </a:r>
            <a:r>
              <a:rPr lang="en-IN" sz="1800" dirty="0" smtClean="0">
                <a:solidFill>
                  <a:srgbClr val="3F7F5F"/>
                </a:solidFill>
                <a:latin typeface="Roboto Condensed"/>
              </a:rPr>
              <a:t>Controller</a:t>
            </a:r>
            <a:endParaRPr lang="en-US" sz="1800" dirty="0">
              <a:latin typeface="Roboto Condensed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155142" y="3361764"/>
            <a:ext cx="0" cy="31939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1142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55643"/>
            <a:ext cx="6730423" cy="538609"/>
          </a:xfrm>
        </p:spPr>
        <p:txBody>
          <a:bodyPr/>
          <a:lstStyle/>
          <a:p>
            <a:r>
              <a:rPr lang="en-IN" sz="3400" dirty="0" smtClean="0"/>
              <a:t>Getting form data in Controller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13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558796" indent="-457200">
              <a:buFont typeface="+mj-lt"/>
              <a:buAutoNum type="arabicPeriod"/>
            </a:pP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558796" indent="-457200">
              <a:buFont typeface="+mj-lt"/>
              <a:buAutoNum type="arabicPeriod"/>
            </a:pP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Using HttpServletRequest Object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 –</a:t>
            </a: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558796" indent="-457200">
              <a:buFont typeface="+mj-lt"/>
              <a:buAutoNum type="arabicPeriod"/>
            </a:pPr>
            <a:endParaRPr lang="en-IN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dirty="0">
                <a:solidFill>
                  <a:srgbClr val="646464"/>
                </a:solidFill>
                <a:latin typeface="Roboto Condensed"/>
              </a:rPr>
              <a:t>PostMapping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"/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submitForm"</a:t>
            </a:r>
            <a:r>
              <a:rPr lang="en-IN" sz="2130" dirty="0" smtClean="0">
                <a:latin typeface="Roboto Condensed"/>
              </a:rPr>
              <a:t>)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>
                <a:latin typeface="Roboto Condensed"/>
              </a:rPr>
              <a:t> String </a:t>
            </a:r>
            <a:r>
              <a:rPr lang="en-IN" sz="2130" dirty="0" smtClean="0">
                <a:latin typeface="Roboto Condensed"/>
              </a:rPr>
              <a:t>submitForm(HttpServletRequest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req</a:t>
            </a:r>
            <a:r>
              <a:rPr lang="en-IN" sz="2130" dirty="0">
                <a:latin typeface="Roboto Condensed"/>
              </a:rPr>
              <a:t>) {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</a:t>
            </a: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	</a:t>
            </a: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int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userId</a:t>
            </a:r>
            <a:r>
              <a:rPr lang="en-IN" sz="2130" dirty="0">
                <a:latin typeface="Roboto Condensed"/>
              </a:rPr>
              <a:t> = Integer.</a:t>
            </a:r>
            <a:r>
              <a:rPr lang="en-IN" sz="2130" i="1" dirty="0">
                <a:latin typeface="Roboto Condensed"/>
              </a:rPr>
              <a:t>parseInt(</a:t>
            </a:r>
            <a:r>
              <a:rPr lang="en-IN" sz="2130" i="1" dirty="0">
                <a:solidFill>
                  <a:srgbClr val="6A3E3E"/>
                </a:solidFill>
                <a:latin typeface="Roboto Condensed"/>
              </a:rPr>
              <a:t>req</a:t>
            </a:r>
            <a:r>
              <a:rPr lang="en-IN" sz="2130" i="1" dirty="0">
                <a:latin typeface="Roboto Condensed"/>
              </a:rPr>
              <a:t>.getParameter(</a:t>
            </a:r>
            <a:r>
              <a:rPr lang="en-IN" sz="2130" i="1" u="sng" dirty="0">
                <a:solidFill>
                  <a:srgbClr val="2A00FF"/>
                </a:solidFill>
                <a:latin typeface="Roboto Condensed"/>
              </a:rPr>
              <a:t>"userId"</a:t>
            </a:r>
            <a:r>
              <a:rPr lang="en-IN" sz="2130" i="1" u="sng" dirty="0">
                <a:latin typeface="Roboto Condensed"/>
              </a:rPr>
              <a:t>));</a:t>
            </a:r>
          </a:p>
          <a:p>
            <a:pPr marL="101596" indent="0">
              <a:buNone/>
            </a:pPr>
            <a:r>
              <a:rPr lang="en-IN" sz="2130" dirty="0" smtClean="0">
                <a:latin typeface="Roboto Condensed"/>
              </a:rPr>
              <a:t>	String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pwd</a:t>
            </a:r>
            <a:r>
              <a:rPr lang="en-IN" sz="2130" dirty="0">
                <a:latin typeface="Roboto Condensed"/>
              </a:rPr>
              <a:t> =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req</a:t>
            </a:r>
            <a:r>
              <a:rPr lang="en-IN" sz="2130" dirty="0">
                <a:latin typeface="Roboto Condensed"/>
              </a:rPr>
              <a:t>.getParameter(</a:t>
            </a:r>
            <a:r>
              <a:rPr lang="en-IN" sz="2130" u="sng" dirty="0">
                <a:solidFill>
                  <a:srgbClr val="2A00FF"/>
                </a:solidFill>
                <a:latin typeface="Roboto Condensed"/>
              </a:rPr>
              <a:t>"password"</a:t>
            </a:r>
            <a:r>
              <a:rPr lang="en-IN" sz="2130" u="sng" dirty="0">
                <a:latin typeface="Roboto Condensed"/>
              </a:rPr>
              <a:t>);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req</a:t>
            </a:r>
            <a:r>
              <a:rPr lang="en-IN" sz="2130" dirty="0" smtClean="0">
                <a:latin typeface="Roboto Condensed"/>
              </a:rPr>
              <a:t>.setAttribute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"userId"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userId</a:t>
            </a:r>
            <a:r>
              <a:rPr lang="en-IN" sz="2130" dirty="0">
                <a:latin typeface="Roboto Condensed"/>
              </a:rPr>
              <a:t>);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req</a:t>
            </a:r>
            <a:r>
              <a:rPr lang="en-IN" sz="2130" dirty="0" smtClean="0">
                <a:latin typeface="Roboto Condensed"/>
              </a:rPr>
              <a:t>.setAttribute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"password"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pwd</a:t>
            </a:r>
            <a:r>
              <a:rPr lang="en-IN" sz="2130" dirty="0">
                <a:latin typeface="Roboto Condensed"/>
              </a:rPr>
              <a:t>);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u="sng" dirty="0">
                <a:solidFill>
                  <a:srgbClr val="2A00FF"/>
                </a:solidFill>
                <a:latin typeface="Roboto Condensed"/>
              </a:rPr>
              <a:t>"formDataDisplay</a:t>
            </a:r>
            <a:r>
              <a:rPr lang="en-IN" sz="2130" u="sng" dirty="0" smtClean="0">
                <a:solidFill>
                  <a:srgbClr val="2A00FF"/>
                </a:solidFill>
                <a:latin typeface="Roboto Condensed"/>
              </a:rPr>
              <a:t>"</a:t>
            </a:r>
            <a:r>
              <a:rPr lang="en-IN" sz="2130" u="sng" dirty="0" smtClean="0">
                <a:latin typeface="Roboto Condensed"/>
              </a:rPr>
              <a:t>;</a:t>
            </a:r>
          </a:p>
          <a:p>
            <a:pPr marL="101596" indent="0">
              <a:buNone/>
            </a:pPr>
            <a:endParaRPr lang="en-IN" sz="2130" u="sng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latin typeface="Roboto Condensed"/>
              </a:rPr>
              <a:t>}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// 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submitForm()</a:t>
            </a:r>
            <a:endParaRPr lang="en-US" sz="213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932923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78727"/>
            <a:ext cx="6730423" cy="492443"/>
          </a:xfrm>
        </p:spPr>
        <p:txBody>
          <a:bodyPr/>
          <a:lstStyle/>
          <a:p>
            <a:r>
              <a:rPr lang="en-IN" sz="3200" dirty="0" smtClean="0"/>
              <a:t>Getting form data in Controller…</a:t>
            </a:r>
            <a:endParaRPr lang="en-IN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14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2"/>
            <a:ext cx="11633200" cy="5657248"/>
          </a:xfrm>
        </p:spPr>
        <p:txBody>
          <a:bodyPr/>
          <a:lstStyle/>
          <a:p>
            <a:pPr marL="558796" indent="-457200">
              <a:buFont typeface="+mj-lt"/>
              <a:buAutoNum type="arabicPeriod" startAt="2"/>
            </a:pP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Using @RequestParam</a:t>
            </a:r>
            <a:r>
              <a:rPr lang="en-US" sz="2130" b="1" dirty="0">
                <a:solidFill>
                  <a:schemeClr val="tx1"/>
                </a:solidFill>
                <a:latin typeface="Roboto Condensed"/>
              </a:rPr>
              <a:t> 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–</a:t>
            </a:r>
          </a:p>
          <a:p>
            <a:pPr marL="558796" indent="-457200">
              <a:buFont typeface="+mj-lt"/>
              <a:buAutoNum type="arabicPeriod" startAt="2"/>
            </a:pPr>
            <a:endParaRPr lang="en-US" sz="2130" dirty="0">
              <a:solidFill>
                <a:schemeClr val="tx1"/>
              </a:solidFill>
              <a:latin typeface="Roboto Condensed"/>
            </a:endParaRPr>
          </a:p>
          <a:p>
            <a:r>
              <a:rPr lang="en-US" sz="2000" dirty="0">
                <a:solidFill>
                  <a:schemeClr val="tx1"/>
                </a:solidFill>
                <a:latin typeface="Roboto Condensed"/>
              </a:rPr>
              <a:t>I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ndicates </a:t>
            </a:r>
            <a:r>
              <a:rPr lang="en-US" sz="2000" dirty="0">
                <a:solidFill>
                  <a:schemeClr val="tx1"/>
                </a:solidFill>
                <a:latin typeface="Roboto Condensed"/>
              </a:rPr>
              <a:t>that a method parameter should be bound to a 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web request parameter.</a:t>
            </a:r>
          </a:p>
          <a:p>
            <a:endParaRPr lang="en-US" sz="1000" dirty="0" smtClean="0">
              <a:solidFill>
                <a:schemeClr val="tx1"/>
              </a:solidFill>
              <a:latin typeface="Roboto Condensed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In </a:t>
            </a:r>
            <a:r>
              <a:rPr lang="en-US" sz="2000" dirty="0">
                <a:solidFill>
                  <a:schemeClr val="tx1"/>
                </a:solidFill>
                <a:latin typeface="Roboto Condensed"/>
              </a:rPr>
              <a:t>Spring MVC, "request parameters" map to query 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parameters and form data. </a:t>
            </a:r>
            <a:r>
              <a:rPr lang="en-US" sz="2000" dirty="0">
                <a:solidFill>
                  <a:schemeClr val="tx1"/>
                </a:solidFill>
                <a:latin typeface="Roboto Condensed"/>
              </a:rPr>
              <a:t>This is because the Servlet API 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combines query </a:t>
            </a:r>
            <a:r>
              <a:rPr lang="en-US" sz="2000" dirty="0">
                <a:solidFill>
                  <a:schemeClr val="tx1"/>
                </a:solidFill>
                <a:latin typeface="Roboto Condensed"/>
              </a:rPr>
              <a:t>parameters and form data into a single map called "parameters", 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and that </a:t>
            </a:r>
            <a:r>
              <a:rPr lang="en-US" sz="2000" dirty="0">
                <a:solidFill>
                  <a:schemeClr val="tx1"/>
                </a:solidFill>
                <a:latin typeface="Roboto Condensed"/>
              </a:rPr>
              <a:t>includes automatic parsing of the request body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.</a:t>
            </a:r>
          </a:p>
          <a:p>
            <a:pPr marL="101596" indent="0">
              <a:buNone/>
            </a:pPr>
            <a:endParaRPr lang="en-IN" sz="2130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646464"/>
                </a:solidFill>
                <a:latin typeface="Roboto Condensed"/>
              </a:rPr>
              <a:t>@PostMapping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"/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submitForm"</a:t>
            </a:r>
            <a:r>
              <a:rPr lang="en-IN" sz="2130" dirty="0" smtClean="0">
                <a:latin typeface="Roboto Condensed"/>
              </a:rPr>
              <a:t>)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>
                <a:latin typeface="Roboto Condensed"/>
              </a:rPr>
              <a:t> String </a:t>
            </a:r>
            <a:r>
              <a:rPr lang="en-IN" sz="2130" dirty="0" smtClean="0">
                <a:latin typeface="Roboto Condensed"/>
              </a:rPr>
              <a:t>submitFrom(</a:t>
            </a:r>
            <a:r>
              <a:rPr lang="en-IN" sz="2130" b="1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b="1" dirty="0">
                <a:solidFill>
                  <a:srgbClr val="646464"/>
                </a:solidFill>
                <a:latin typeface="Roboto Condensed"/>
              </a:rPr>
              <a:t>RequestParam</a:t>
            </a:r>
            <a:r>
              <a:rPr lang="en-IN" sz="2130" b="1" dirty="0">
                <a:latin typeface="Roboto Condensed"/>
              </a:rPr>
              <a:t>(name = </a:t>
            </a:r>
            <a:r>
              <a:rPr lang="en-IN" sz="2130" b="1" dirty="0">
                <a:solidFill>
                  <a:srgbClr val="2A00FF"/>
                </a:solidFill>
                <a:latin typeface="Roboto Condensed"/>
              </a:rPr>
              <a:t>"userId"</a:t>
            </a:r>
            <a:r>
              <a:rPr lang="en-IN" sz="2130" b="1" dirty="0">
                <a:latin typeface="Roboto Condensed"/>
              </a:rPr>
              <a:t>) </a:t>
            </a:r>
            <a:r>
              <a:rPr lang="en-IN" sz="2130" b="1" dirty="0">
                <a:solidFill>
                  <a:srgbClr val="7F0055"/>
                </a:solidFill>
                <a:latin typeface="Roboto Condensed"/>
              </a:rPr>
              <a:t>int</a:t>
            </a:r>
            <a:r>
              <a:rPr lang="en-IN" sz="2130" b="1" dirty="0">
                <a:latin typeface="Roboto Condensed"/>
              </a:rPr>
              <a:t> </a:t>
            </a:r>
            <a:r>
              <a:rPr lang="en-IN" sz="2130" b="1" dirty="0">
                <a:solidFill>
                  <a:srgbClr val="6A3E3E"/>
                </a:solidFill>
                <a:latin typeface="Roboto Condensed"/>
              </a:rPr>
              <a:t>i</a:t>
            </a:r>
            <a:r>
              <a:rPr lang="en-IN" sz="2130" b="1" dirty="0" smtClean="0">
                <a:solidFill>
                  <a:srgbClr val="6A3E3E"/>
                </a:solidFill>
                <a:latin typeface="Roboto Condensed"/>
              </a:rPr>
              <a:t>d</a:t>
            </a:r>
            <a:r>
              <a:rPr lang="en-IN" sz="2130" dirty="0">
                <a:latin typeface="Roboto Condensed"/>
              </a:rPr>
              <a:t>,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46464"/>
                </a:solidFill>
                <a:latin typeface="Roboto Condensed"/>
              </a:rPr>
              <a:t>	</a:t>
            </a:r>
            <a:r>
              <a:rPr lang="en-IN" sz="2130" b="1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b="1" dirty="0">
                <a:solidFill>
                  <a:srgbClr val="646464"/>
                </a:solidFill>
                <a:latin typeface="Roboto Condensed"/>
              </a:rPr>
              <a:t>RequestParam</a:t>
            </a:r>
            <a:r>
              <a:rPr lang="en-IN" sz="2130" b="1" dirty="0">
                <a:latin typeface="Roboto Condensed"/>
              </a:rPr>
              <a:t>(name = </a:t>
            </a:r>
            <a:r>
              <a:rPr lang="en-IN" sz="2130" b="1" dirty="0">
                <a:solidFill>
                  <a:srgbClr val="2A00FF"/>
                </a:solidFill>
                <a:latin typeface="Roboto Condensed"/>
              </a:rPr>
              <a:t>"password"</a:t>
            </a:r>
            <a:r>
              <a:rPr lang="en-IN" sz="2130" b="1" dirty="0">
                <a:latin typeface="Roboto Condensed"/>
              </a:rPr>
              <a:t>) String </a:t>
            </a:r>
            <a:r>
              <a:rPr lang="en-IN" sz="2130" b="1" dirty="0">
                <a:solidFill>
                  <a:srgbClr val="6A3E3E"/>
                </a:solidFill>
                <a:latin typeface="Roboto Condensed"/>
              </a:rPr>
              <a:t>pwd</a:t>
            </a:r>
            <a:r>
              <a:rPr lang="en-IN" sz="2130" dirty="0">
                <a:latin typeface="Roboto Condensed"/>
              </a:rPr>
              <a:t>, ModelMap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modelMap</a:t>
            </a:r>
            <a:r>
              <a:rPr lang="en-IN" sz="2130" dirty="0">
                <a:latin typeface="Roboto Condensed"/>
              </a:rPr>
              <a:t>) {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	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	</a:t>
            </a: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modelMap</a:t>
            </a:r>
            <a:r>
              <a:rPr lang="en-IN" sz="2130" dirty="0" smtClean="0">
                <a:latin typeface="Roboto Condensed"/>
              </a:rPr>
              <a:t>.addAttribute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"userId"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i</a:t>
            </a: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d</a:t>
            </a:r>
            <a:r>
              <a:rPr lang="en-IN" sz="2130" dirty="0">
                <a:latin typeface="Roboto Condensed"/>
              </a:rPr>
              <a:t>);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	modelMap</a:t>
            </a:r>
            <a:r>
              <a:rPr lang="en-IN" sz="2130" dirty="0" smtClean="0">
                <a:latin typeface="Roboto Condensed"/>
              </a:rPr>
              <a:t>.addAttribute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"password"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pwd</a:t>
            </a:r>
            <a:r>
              <a:rPr lang="en-IN" sz="2130" dirty="0">
                <a:latin typeface="Roboto Condensed"/>
              </a:rPr>
              <a:t>);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"formDataDisplay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"</a:t>
            </a:r>
            <a:r>
              <a:rPr lang="en-IN" sz="2130" dirty="0" smtClean="0">
                <a:latin typeface="Roboto Condensed"/>
              </a:rPr>
              <a:t>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latin typeface="Roboto Condensed"/>
              </a:rPr>
              <a:t>}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// 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submitForm()</a:t>
            </a:r>
            <a:endParaRPr lang="en-US" sz="213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8125652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78727"/>
            <a:ext cx="6730423" cy="492443"/>
          </a:xfrm>
        </p:spPr>
        <p:txBody>
          <a:bodyPr/>
          <a:lstStyle/>
          <a:p>
            <a:r>
              <a:rPr lang="en-IN" sz="3200" dirty="0" smtClean="0"/>
              <a:t>Getting form data in Controller…</a:t>
            </a:r>
            <a:endParaRPr lang="en-IN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15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558796" indent="-457200">
              <a:buFont typeface="+mj-lt"/>
              <a:buAutoNum type="arabicPeriod" startAt="3"/>
            </a:pP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558796" indent="-457200">
              <a:buFont typeface="+mj-lt"/>
              <a:buAutoNum type="arabicPeriod" startAt="3"/>
            </a:pP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By Giving parameter name same as of &lt;input&gt; tag name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 –</a:t>
            </a: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IN" sz="2130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646464"/>
                </a:solidFill>
                <a:latin typeface="Roboto Condensed"/>
              </a:rPr>
              <a:t>@PostMapping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"/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submitForm"</a:t>
            </a:r>
            <a:r>
              <a:rPr lang="en-IN" sz="2130" dirty="0" smtClean="0">
                <a:latin typeface="Roboto Condensed"/>
              </a:rPr>
              <a:t>)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>
                <a:latin typeface="Roboto Condensed"/>
              </a:rPr>
              <a:t> String </a:t>
            </a:r>
            <a:r>
              <a:rPr lang="en-IN" sz="2130" dirty="0" smtClean="0">
                <a:latin typeface="Roboto Condensed"/>
              </a:rPr>
              <a:t>submitForm(</a:t>
            </a:r>
            <a:r>
              <a:rPr lang="en-IN" sz="2130" b="1" dirty="0" smtClean="0">
                <a:solidFill>
                  <a:srgbClr val="7F0055"/>
                </a:solidFill>
                <a:latin typeface="Roboto Condensed"/>
              </a:rPr>
              <a:t>int</a:t>
            </a:r>
            <a:r>
              <a:rPr lang="en-IN" sz="2130" b="1" dirty="0" smtClean="0">
                <a:latin typeface="Roboto Condensed"/>
              </a:rPr>
              <a:t> </a:t>
            </a:r>
            <a:r>
              <a:rPr lang="en-IN" sz="2130" b="1" dirty="0">
                <a:solidFill>
                  <a:srgbClr val="6A3E3E"/>
                </a:solidFill>
                <a:latin typeface="Roboto Condensed"/>
              </a:rPr>
              <a:t>userId</a:t>
            </a:r>
            <a:r>
              <a:rPr lang="en-IN" sz="2130" b="1" dirty="0">
                <a:latin typeface="Roboto Condensed"/>
              </a:rPr>
              <a:t>, String </a:t>
            </a:r>
            <a:r>
              <a:rPr lang="en-IN" sz="2130" b="1" dirty="0">
                <a:solidFill>
                  <a:srgbClr val="6A3E3E"/>
                </a:solidFill>
                <a:latin typeface="Roboto Condensed"/>
              </a:rPr>
              <a:t>password</a:t>
            </a:r>
            <a:r>
              <a:rPr lang="en-IN" sz="2130" dirty="0">
                <a:latin typeface="Roboto Condensed"/>
              </a:rPr>
              <a:t>, ModelMap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modelMap</a:t>
            </a:r>
            <a:r>
              <a:rPr lang="en-IN" sz="2130" dirty="0">
                <a:latin typeface="Roboto Condensed"/>
              </a:rPr>
              <a:t>) {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modelMap</a:t>
            </a:r>
            <a:r>
              <a:rPr lang="en-IN" sz="2130" dirty="0" smtClean="0">
                <a:latin typeface="Roboto Condensed"/>
              </a:rPr>
              <a:t>.addAttribute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"userId"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userId</a:t>
            </a:r>
            <a:r>
              <a:rPr lang="en-IN" sz="2130" dirty="0">
                <a:latin typeface="Roboto Condensed"/>
              </a:rPr>
              <a:t>);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modelMap</a:t>
            </a:r>
            <a:r>
              <a:rPr lang="en-IN" sz="2130" dirty="0" smtClean="0">
                <a:latin typeface="Roboto Condensed"/>
              </a:rPr>
              <a:t>.addAttribute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"password"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password</a:t>
            </a:r>
            <a:r>
              <a:rPr lang="en-IN" sz="2130" dirty="0">
                <a:latin typeface="Roboto Condensed"/>
              </a:rPr>
              <a:t>);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"formDataDisplay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"</a:t>
            </a:r>
            <a:r>
              <a:rPr lang="en-IN" sz="2130" dirty="0" smtClean="0">
                <a:latin typeface="Roboto Condensed"/>
              </a:rPr>
              <a:t>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latin typeface="Roboto Condensed"/>
              </a:rPr>
              <a:t>}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// 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submitForm()</a:t>
            </a:r>
            <a:endParaRPr lang="en-US" sz="213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8248010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78727"/>
            <a:ext cx="6730423" cy="492443"/>
          </a:xfrm>
        </p:spPr>
        <p:txBody>
          <a:bodyPr/>
          <a:lstStyle/>
          <a:p>
            <a:r>
              <a:rPr lang="en-IN" sz="3200" dirty="0" smtClean="0"/>
              <a:t>Getting form data in Controller…</a:t>
            </a:r>
            <a:endParaRPr lang="en-IN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16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558796" indent="-457200">
              <a:buFont typeface="+mj-lt"/>
              <a:buAutoNum type="arabicPeriod" startAt="4"/>
            </a:pP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558796" indent="-457200">
              <a:buFont typeface="+mj-lt"/>
              <a:buAutoNum type="arabicPeriod" startAt="4"/>
            </a:pP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Using DTO / Bean Object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 –</a:t>
            </a: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IN" sz="2130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US" sz="2130" dirty="0" smtClean="0">
                <a:solidFill>
                  <a:schemeClr val="accent6">
                    <a:lumMod val="75000"/>
                  </a:schemeClr>
                </a:solidFill>
                <a:latin typeface="Roboto Condensed"/>
              </a:rPr>
              <a:t>class</a:t>
            </a:r>
            <a:r>
              <a:rPr lang="en-US" sz="2130" dirty="0" smtClean="0">
                <a:solidFill>
                  <a:srgbClr val="646464"/>
                </a:solidFill>
                <a:latin typeface="Roboto Condensed"/>
              </a:rPr>
              <a:t>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UserBean</a:t>
            </a:r>
            <a:r>
              <a:rPr lang="en-US" sz="2130" dirty="0" smtClean="0">
                <a:solidFill>
                  <a:srgbClr val="646464"/>
                </a:solidFill>
                <a:latin typeface="Roboto Condensed"/>
              </a:rPr>
              <a:t>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{</a:t>
            </a:r>
          </a:p>
          <a:p>
            <a:pPr marL="101596" indent="0">
              <a:buNone/>
            </a:pPr>
            <a:r>
              <a:rPr lang="en-US" sz="2130" dirty="0" smtClean="0">
                <a:solidFill>
                  <a:srgbClr val="646464"/>
                </a:solidFill>
                <a:latin typeface="Roboto Condensed"/>
              </a:rPr>
              <a:t>	</a:t>
            </a:r>
            <a:r>
              <a:rPr lang="en-US" sz="2130" dirty="0" smtClean="0">
                <a:solidFill>
                  <a:schemeClr val="accent6">
                    <a:lumMod val="75000"/>
                  </a:schemeClr>
                </a:solidFill>
                <a:latin typeface="Roboto Condensed"/>
              </a:rPr>
              <a:t>private int</a:t>
            </a:r>
            <a:r>
              <a:rPr lang="en-US" sz="2130" dirty="0" smtClean="0">
                <a:solidFill>
                  <a:srgbClr val="646464"/>
                </a:solidFill>
                <a:latin typeface="Roboto Condensed"/>
              </a:rPr>
              <a:t>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userId</a:t>
            </a:r>
            <a:r>
              <a:rPr lang="en-US" sz="2130" dirty="0" smtClean="0">
                <a:solidFill>
                  <a:srgbClr val="646464"/>
                </a:solidFill>
                <a:latin typeface="Roboto Condensed"/>
              </a:rPr>
              <a:t>;</a:t>
            </a:r>
          </a:p>
          <a:p>
            <a:pPr marL="101596" indent="0">
              <a:buNone/>
            </a:pPr>
            <a:r>
              <a:rPr lang="en-US" sz="2130" dirty="0">
                <a:solidFill>
                  <a:srgbClr val="646464"/>
                </a:solidFill>
                <a:latin typeface="Roboto Condensed"/>
              </a:rPr>
              <a:t>	</a:t>
            </a:r>
            <a:r>
              <a:rPr lang="en-US" sz="2130" dirty="0" smtClean="0">
                <a:solidFill>
                  <a:schemeClr val="accent6">
                    <a:lumMod val="75000"/>
                  </a:schemeClr>
                </a:solidFill>
                <a:latin typeface="Roboto Condensed"/>
              </a:rPr>
              <a:t>private</a:t>
            </a:r>
            <a:r>
              <a:rPr lang="en-US" sz="2130" dirty="0" smtClean="0">
                <a:solidFill>
                  <a:srgbClr val="646464"/>
                </a:solidFill>
                <a:latin typeface="Roboto Condensed"/>
              </a:rPr>
              <a:t>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String</a:t>
            </a:r>
            <a:r>
              <a:rPr lang="en-US" sz="2130" dirty="0" smtClean="0">
                <a:solidFill>
                  <a:srgbClr val="646464"/>
                </a:solidFill>
                <a:latin typeface="Roboto Condensed"/>
              </a:rPr>
              <a:t>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password</a:t>
            </a:r>
            <a:r>
              <a:rPr lang="en-US" sz="2130" dirty="0" smtClean="0">
                <a:solidFill>
                  <a:srgbClr val="646464"/>
                </a:solidFill>
                <a:latin typeface="Roboto Condensed"/>
              </a:rPr>
              <a:t>;</a:t>
            </a:r>
          </a:p>
          <a:p>
            <a:pPr marL="101596" indent="0">
              <a:buNone/>
            </a:pPr>
            <a:r>
              <a:rPr lang="en-US" sz="2130" dirty="0">
                <a:solidFill>
                  <a:srgbClr val="646464"/>
                </a:solidFill>
                <a:latin typeface="Roboto Condensed"/>
              </a:rPr>
              <a:t>	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//setters and getters</a:t>
            </a:r>
          </a:p>
          <a:p>
            <a:pPr marL="101596" indent="0">
              <a:buNone/>
            </a:pP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}</a:t>
            </a:r>
            <a:endParaRPr lang="en-IN" sz="2130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dirty="0">
                <a:solidFill>
                  <a:srgbClr val="646464"/>
                </a:solidFill>
                <a:latin typeface="Roboto Condensed"/>
              </a:rPr>
              <a:t>PostMapping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"/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submitForm"</a:t>
            </a:r>
            <a:r>
              <a:rPr lang="en-IN" sz="2130" dirty="0" smtClean="0">
                <a:latin typeface="Roboto Condensed"/>
              </a:rPr>
              <a:t>)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>
                <a:latin typeface="Roboto Condensed"/>
              </a:rPr>
              <a:t> String </a:t>
            </a:r>
            <a:r>
              <a:rPr lang="en-IN" sz="2130" dirty="0" smtClean="0">
                <a:latin typeface="Roboto Condensed"/>
              </a:rPr>
              <a:t>submitForm(</a:t>
            </a:r>
            <a:r>
              <a:rPr lang="en-IN" sz="2130" b="1" dirty="0" smtClean="0">
                <a:latin typeface="Roboto Condensed"/>
              </a:rPr>
              <a:t>UserBean </a:t>
            </a:r>
            <a:r>
              <a:rPr lang="en-IN" sz="2130" b="1" dirty="0" smtClean="0">
                <a:solidFill>
                  <a:srgbClr val="6A3E3E"/>
                </a:solidFill>
                <a:latin typeface="Roboto Condensed"/>
              </a:rPr>
              <a:t>userBean</a:t>
            </a:r>
            <a:r>
              <a:rPr lang="en-IN" sz="2130" dirty="0">
                <a:latin typeface="Roboto Condensed"/>
              </a:rPr>
              <a:t>, ModelMap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modelMap</a:t>
            </a:r>
            <a:r>
              <a:rPr lang="en-IN" sz="2130" dirty="0">
                <a:latin typeface="Roboto Condensed"/>
              </a:rPr>
              <a:t>) {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</a:t>
            </a:r>
          </a:p>
          <a:p>
            <a:pPr marL="101596" indent="0">
              <a:buNone/>
            </a:pPr>
            <a:r>
              <a:rPr lang="en-IN" sz="2130" dirty="0">
                <a:solidFill>
                  <a:srgbClr val="6A3E3E"/>
                </a:solidFill>
                <a:latin typeface="Roboto Condensed"/>
              </a:rPr>
              <a:t>	</a:t>
            </a: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modelMap</a:t>
            </a:r>
            <a:r>
              <a:rPr lang="en-IN" sz="2130" dirty="0" smtClean="0">
                <a:latin typeface="Roboto Condensed"/>
              </a:rPr>
              <a:t>.addAttribute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"userBean"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userBean</a:t>
            </a:r>
            <a:r>
              <a:rPr lang="en-IN" sz="2130" dirty="0" smtClean="0">
                <a:latin typeface="Roboto Condensed"/>
              </a:rPr>
              <a:t>);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"formDataBeanDisplay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"</a:t>
            </a:r>
            <a:r>
              <a:rPr lang="en-IN" sz="2130" dirty="0" smtClean="0">
                <a:latin typeface="Roboto Condensed"/>
              </a:rPr>
              <a:t>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latin typeface="Roboto Condensed"/>
              </a:rPr>
              <a:t>}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// 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submitFrom()</a:t>
            </a:r>
            <a:endParaRPr lang="en-US" sz="213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520486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55643"/>
            <a:ext cx="6730423" cy="538609"/>
          </a:xfrm>
        </p:spPr>
        <p:txBody>
          <a:bodyPr/>
          <a:lstStyle/>
          <a:p>
            <a:r>
              <a:rPr lang="en-IN" sz="3400" dirty="0" smtClean="0"/>
              <a:t>Forward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17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101596" indent="0">
              <a:buNone/>
            </a:pP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Forward in Spring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 –</a:t>
            </a: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IN" sz="2130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646464"/>
                </a:solidFill>
                <a:latin typeface="Roboto Condensed"/>
              </a:rPr>
              <a:t>@GetMapping</a:t>
            </a:r>
            <a:r>
              <a:rPr lang="en-IN" sz="2130" dirty="0" smtClean="0">
                <a:latin typeface="Roboto Condensed"/>
              </a:rPr>
              <a:t>(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"/forward"</a:t>
            </a:r>
            <a:r>
              <a:rPr lang="en-IN" sz="2130" dirty="0" smtClean="0">
                <a:latin typeface="Roboto Condensed"/>
              </a:rPr>
              <a:t>)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>
                <a:latin typeface="Roboto Condensed"/>
              </a:rPr>
              <a:t> String </a:t>
            </a:r>
            <a:r>
              <a:rPr lang="en-IN" sz="2130" dirty="0" smtClean="0">
                <a:latin typeface="Roboto Condensed"/>
              </a:rPr>
              <a:t>forward() </a:t>
            </a:r>
            <a:r>
              <a:rPr lang="en-IN" sz="2130" dirty="0">
                <a:latin typeface="Roboto Condensed"/>
              </a:rPr>
              <a:t>{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“</a:t>
            </a:r>
            <a:r>
              <a:rPr lang="en-IN" sz="2130" b="1" dirty="0" smtClean="0">
                <a:solidFill>
                  <a:srgbClr val="2A00FF"/>
                </a:solidFill>
                <a:latin typeface="Roboto Condensed"/>
              </a:rPr>
              <a:t>forward: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/abc/xyz"</a:t>
            </a:r>
            <a:r>
              <a:rPr lang="en-IN" sz="2130" dirty="0" smtClean="0">
                <a:latin typeface="Roboto Condensed"/>
              </a:rPr>
              <a:t>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latin typeface="Roboto Condensed"/>
              </a:rPr>
              <a:t>}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// 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forward()</a:t>
            </a:r>
            <a:endParaRPr lang="en-US" sz="213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656760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55643"/>
            <a:ext cx="6730423" cy="538609"/>
          </a:xfrm>
        </p:spPr>
        <p:txBody>
          <a:bodyPr/>
          <a:lstStyle/>
          <a:p>
            <a:r>
              <a:rPr lang="en-IN" sz="3400" dirty="0" smtClean="0"/>
              <a:t>Redirect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18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101596" indent="0">
              <a:buNone/>
            </a:pP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Redirect in Spring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 –</a:t>
            </a: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IN" sz="2130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646464"/>
                </a:solidFill>
                <a:latin typeface="Roboto Condensed"/>
              </a:rPr>
              <a:t>@GetMapping</a:t>
            </a:r>
            <a:r>
              <a:rPr lang="en-IN" sz="2130" dirty="0" smtClean="0">
                <a:latin typeface="Roboto Condensed"/>
              </a:rPr>
              <a:t>(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"/redirect"</a:t>
            </a:r>
            <a:r>
              <a:rPr lang="en-IN" sz="2130" dirty="0" smtClean="0">
                <a:latin typeface="Roboto Condensed"/>
              </a:rPr>
              <a:t>)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>
                <a:latin typeface="Roboto Condensed"/>
              </a:rPr>
              <a:t> String </a:t>
            </a:r>
            <a:r>
              <a:rPr lang="en-IN" sz="2130" dirty="0" smtClean="0">
                <a:latin typeface="Roboto Condensed"/>
              </a:rPr>
              <a:t>redirect() </a:t>
            </a:r>
            <a:r>
              <a:rPr lang="en-IN" sz="2130" dirty="0">
                <a:latin typeface="Roboto Condensed"/>
              </a:rPr>
              <a:t>{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“</a:t>
            </a:r>
            <a:r>
              <a:rPr lang="en-IN" sz="2130" b="1" dirty="0" smtClean="0">
                <a:solidFill>
                  <a:srgbClr val="2A00FF"/>
                </a:solidFill>
                <a:latin typeface="Roboto Condensed"/>
              </a:rPr>
              <a:t>redirect: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https://www.google.com"</a:t>
            </a:r>
            <a:r>
              <a:rPr lang="en-IN" sz="2130" dirty="0" smtClean="0">
                <a:latin typeface="Roboto Condensed"/>
              </a:rPr>
              <a:t>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latin typeface="Roboto Condensed"/>
              </a:rPr>
              <a:t>}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// 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redirect()</a:t>
            </a:r>
            <a:endParaRPr lang="en-US" sz="213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720300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55643"/>
            <a:ext cx="6730423" cy="538609"/>
          </a:xfrm>
        </p:spPr>
        <p:txBody>
          <a:bodyPr/>
          <a:lstStyle/>
          <a:p>
            <a:r>
              <a:rPr lang="en-IN" sz="3400" dirty="0" smtClean="0"/>
              <a:t>Cookie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19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101596" indent="0">
              <a:buNone/>
            </a:pPr>
            <a:endParaRPr lang="en-US" sz="2130" b="1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@CookieValue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 –</a:t>
            </a: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IN" sz="2130" u="sng" dirty="0" smtClean="0">
              <a:solidFill>
                <a:schemeClr val="tx1"/>
              </a:solidFill>
              <a:latin typeface="Roboto Condensed"/>
            </a:endParaRPr>
          </a:p>
          <a:p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Indicates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that a method parameter should be bound to an HTTP cookie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.</a:t>
            </a:r>
            <a:endParaRPr lang="en-US" sz="2130" dirty="0">
              <a:solidFill>
                <a:schemeClr val="tx1"/>
              </a:solidFill>
              <a:latin typeface="Roboto Condensed"/>
            </a:endParaRPr>
          </a:p>
          <a:p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Used to read the cookie value.</a:t>
            </a:r>
            <a:endParaRPr lang="en-IN" sz="2130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IN" sz="2130" dirty="0" smtClean="0">
              <a:solidFill>
                <a:srgbClr val="646464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646464"/>
                </a:solidFill>
                <a:latin typeface="Roboto Condensed"/>
              </a:rPr>
              <a:t>@GetMapping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"/readCookie"</a:t>
            </a:r>
            <a:r>
              <a:rPr lang="en-IN" sz="2130" dirty="0">
                <a:latin typeface="Roboto Condensed"/>
              </a:rPr>
              <a:t>)</a:t>
            </a: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>
                <a:latin typeface="Roboto Condensed"/>
              </a:rPr>
              <a:t> String readCookie(</a:t>
            </a:r>
            <a:r>
              <a:rPr lang="en-IN" sz="2130" b="1" dirty="0">
                <a:solidFill>
                  <a:srgbClr val="646464"/>
                </a:solidFill>
                <a:latin typeface="Roboto Condensed"/>
              </a:rPr>
              <a:t>@CookieValue</a:t>
            </a:r>
            <a:r>
              <a:rPr lang="en-IN" sz="2130" dirty="0">
                <a:latin typeface="Roboto Condensed"/>
              </a:rPr>
              <a:t>(name = 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"name"</a:t>
            </a:r>
            <a:r>
              <a:rPr lang="en-IN" sz="2130" dirty="0">
                <a:latin typeface="Roboto Condensed"/>
              </a:rPr>
              <a:t>) String </a:t>
            </a: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nameVal</a:t>
            </a:r>
            <a:r>
              <a:rPr lang="en-IN" sz="2130" dirty="0" smtClean="0">
                <a:latin typeface="Roboto Condensed"/>
              </a:rPr>
              <a:t>, </a:t>
            </a:r>
          </a:p>
          <a:p>
            <a:pPr marL="101596" indent="0">
              <a:buNone/>
            </a:pPr>
            <a:r>
              <a:rPr lang="en-IN" sz="2130" dirty="0">
                <a:latin typeface="Roboto Condensed"/>
              </a:rPr>
              <a:t>	</a:t>
            </a:r>
            <a:r>
              <a:rPr lang="en-IN" sz="2130" dirty="0" smtClean="0">
                <a:latin typeface="Roboto Condensed"/>
              </a:rPr>
              <a:t>ModelMap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modelMap</a:t>
            </a:r>
            <a:r>
              <a:rPr lang="en-IN" sz="2130" dirty="0">
                <a:latin typeface="Roboto Condensed"/>
              </a:rPr>
              <a:t>) {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		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	modelMap</a:t>
            </a:r>
            <a:r>
              <a:rPr lang="en-IN" sz="2130" dirty="0" smtClean="0">
                <a:latin typeface="Roboto Condensed"/>
              </a:rPr>
              <a:t>.addAttribute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"msg"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nameVal</a:t>
            </a:r>
            <a:r>
              <a:rPr lang="en-IN" sz="2130" dirty="0" smtClean="0">
                <a:latin typeface="Roboto Condensed"/>
              </a:rPr>
              <a:t>);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"cookiePage"</a:t>
            </a:r>
            <a:r>
              <a:rPr lang="en-IN" sz="2130" dirty="0">
                <a:latin typeface="Roboto Condensed"/>
              </a:rPr>
              <a:t>; </a:t>
            </a:r>
            <a:endParaRPr lang="en-IN" sz="2130" dirty="0" smtClean="0">
              <a:latin typeface="Roboto Condensed"/>
            </a:endParaRP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latin typeface="Roboto Condensed"/>
              </a:rPr>
              <a:t>}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// End of readCookie()</a:t>
            </a:r>
            <a:endParaRPr lang="en-US" sz="213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355918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55643"/>
            <a:ext cx="6730423" cy="538609"/>
          </a:xfrm>
        </p:spPr>
        <p:txBody>
          <a:bodyPr/>
          <a:lstStyle/>
          <a:p>
            <a:r>
              <a:rPr lang="en-IN" sz="3400" dirty="0" smtClean="0"/>
              <a:t>Session Attribute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20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2"/>
            <a:ext cx="11633200" cy="5657248"/>
          </a:xfrm>
        </p:spPr>
        <p:txBody>
          <a:bodyPr/>
          <a:lstStyle/>
          <a:p>
            <a:pPr marL="101596" indent="0">
              <a:buNone/>
            </a:pP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@SessionAttribute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 –</a:t>
            </a:r>
            <a:endParaRPr lang="en-US" sz="2130" b="1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IN" sz="2000" u="sng" dirty="0" smtClean="0">
              <a:solidFill>
                <a:schemeClr val="tx1"/>
              </a:solidFill>
              <a:latin typeface="Roboto Condensed"/>
            </a:endParaRPr>
          </a:p>
          <a:p>
            <a:r>
              <a:rPr lang="en-US" sz="2000" dirty="0">
                <a:solidFill>
                  <a:schemeClr val="tx1"/>
                </a:solidFill>
                <a:latin typeface="Roboto Condensed"/>
              </a:rPr>
              <a:t>Annotation to bind a method parameter to a session attribute. </a:t>
            </a:r>
            <a:endParaRPr lang="en-US" sz="2000" dirty="0" smtClean="0">
              <a:solidFill>
                <a:schemeClr val="tx1"/>
              </a:solidFill>
              <a:latin typeface="Roboto Condensed"/>
            </a:endParaRPr>
          </a:p>
          <a:p>
            <a:r>
              <a:rPr lang="en-US" sz="2000" dirty="0">
                <a:solidFill>
                  <a:schemeClr val="tx1"/>
                </a:solidFill>
                <a:latin typeface="Roboto Condensed"/>
              </a:rPr>
              <a:t>The main motivation is to provide convenient access to existing, 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permanent session </a:t>
            </a:r>
            <a:r>
              <a:rPr lang="en-US" sz="2000" dirty="0">
                <a:solidFill>
                  <a:schemeClr val="tx1"/>
                </a:solidFill>
                <a:latin typeface="Roboto Condensed"/>
              </a:rPr>
              <a:t>attributes (e.g. user authentication object) with an 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optional/required check </a:t>
            </a:r>
            <a:r>
              <a:rPr lang="en-US" sz="2000" dirty="0">
                <a:solidFill>
                  <a:schemeClr val="tx1"/>
                </a:solidFill>
                <a:latin typeface="Roboto Condensed"/>
              </a:rPr>
              <a:t>and a cast to the target method parameter 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type </a:t>
            </a:r>
            <a:r>
              <a:rPr lang="en-US" sz="2000" dirty="0">
                <a:solidFill>
                  <a:schemeClr val="tx1"/>
                </a:solidFill>
                <a:latin typeface="Roboto Condensed"/>
              </a:rPr>
              <a:t>(</a:t>
            </a:r>
            <a:r>
              <a:rPr lang="en-US" sz="2000" dirty="0" smtClean="0">
                <a:solidFill>
                  <a:schemeClr val="tx1"/>
                </a:solidFill>
                <a:latin typeface="Roboto Condensed"/>
              </a:rPr>
              <a:t>Used to get the session attribute).</a:t>
            </a:r>
            <a:endParaRPr lang="en-IN" sz="2000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IN" sz="2000" dirty="0" smtClean="0">
              <a:solidFill>
                <a:srgbClr val="646464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646464"/>
                </a:solidFill>
                <a:latin typeface="Roboto Condensed"/>
              </a:rPr>
              <a:t>@GetMapping</a:t>
            </a:r>
            <a:r>
              <a:rPr lang="en-IN" sz="2130" dirty="0" smtClean="0">
                <a:latin typeface="Roboto Condensed"/>
              </a:rPr>
              <a:t>(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"/sessAttribute"</a:t>
            </a:r>
            <a:r>
              <a:rPr lang="en-IN" sz="2130" dirty="0" smtClean="0">
                <a:latin typeface="Roboto Condensed"/>
              </a:rPr>
              <a:t>)</a:t>
            </a:r>
          </a:p>
          <a:p>
            <a:pPr marL="101596" indent="0">
              <a:buNone/>
            </a:pPr>
            <a:r>
              <a:rPr lang="en-US" sz="2130" dirty="0" smtClean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US" sz="2130" dirty="0" smtClean="0">
                <a:latin typeface="Roboto Condensed"/>
              </a:rPr>
              <a:t> String sessAttribute(ModelMap </a:t>
            </a:r>
            <a:r>
              <a:rPr lang="en-US" sz="2130" dirty="0" smtClean="0">
                <a:solidFill>
                  <a:srgbClr val="6A3E3E"/>
                </a:solidFill>
                <a:latin typeface="Roboto Condensed"/>
              </a:rPr>
              <a:t>modelMap, </a:t>
            </a:r>
            <a:endParaRPr lang="en-US" sz="213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US" sz="2130" b="1" dirty="0" smtClean="0">
                <a:solidFill>
                  <a:srgbClr val="646464"/>
                </a:solidFill>
                <a:latin typeface="Roboto Condensed"/>
              </a:rPr>
              <a:t>	@SessionAttribute</a:t>
            </a:r>
            <a:r>
              <a:rPr lang="en-US" sz="2130" dirty="0" smtClean="0">
                <a:latin typeface="Roboto Condensed"/>
              </a:rPr>
              <a:t>(name = </a:t>
            </a:r>
            <a:r>
              <a:rPr lang="en-US" sz="2130" dirty="0" smtClean="0">
                <a:solidFill>
                  <a:srgbClr val="2A00FF"/>
                </a:solidFill>
                <a:latin typeface="Roboto Condensed"/>
              </a:rPr>
              <a:t>"userBean"</a:t>
            </a:r>
            <a:r>
              <a:rPr lang="en-US" sz="2130" dirty="0" smtClean="0">
                <a:latin typeface="Roboto Condensed"/>
              </a:rPr>
              <a:t>, required = </a:t>
            </a:r>
            <a:r>
              <a:rPr lang="en-US" sz="2130" dirty="0" smtClean="0">
                <a:solidFill>
                  <a:srgbClr val="7F0055"/>
                </a:solidFill>
                <a:latin typeface="Roboto Condensed"/>
              </a:rPr>
              <a:t>false</a:t>
            </a:r>
            <a:r>
              <a:rPr lang="en-US" sz="2130" dirty="0" smtClean="0">
                <a:latin typeface="Roboto Condensed"/>
              </a:rPr>
              <a:t>) UserBean </a:t>
            </a:r>
            <a:r>
              <a:rPr lang="en-US" sz="2130" dirty="0" smtClean="0">
                <a:solidFill>
                  <a:srgbClr val="6A3E3E"/>
                </a:solidFill>
                <a:latin typeface="Roboto Condensed"/>
              </a:rPr>
              <a:t>userBean</a:t>
            </a:r>
            <a:r>
              <a:rPr lang="en-US" sz="2130" dirty="0" smtClean="0">
                <a:latin typeface="Roboto Condensed"/>
              </a:rPr>
              <a:t>) {</a:t>
            </a:r>
          </a:p>
          <a:p>
            <a:pPr marL="101596" indent="0">
              <a:buNone/>
            </a:pPr>
            <a:endParaRPr lang="en-IN" sz="2000" dirty="0" smtClean="0">
              <a:solidFill>
                <a:srgbClr val="7F0055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	</a:t>
            </a: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if</a:t>
            </a:r>
            <a:r>
              <a:rPr lang="en-IN" sz="2130" dirty="0" smtClean="0">
                <a:latin typeface="Roboto Condensed"/>
              </a:rPr>
              <a:t> (</a:t>
            </a: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userBean</a:t>
            </a:r>
            <a:r>
              <a:rPr lang="en-IN" sz="2130" dirty="0" smtClean="0">
                <a:latin typeface="Roboto Condensed"/>
              </a:rPr>
              <a:t> != </a:t>
            </a: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null</a:t>
            </a:r>
            <a:r>
              <a:rPr lang="en-IN" sz="2130" dirty="0" smtClean="0">
                <a:latin typeface="Roboto Condensed"/>
              </a:rPr>
              <a:t>) {</a:t>
            </a:r>
          </a:p>
          <a:p>
            <a:pPr marL="101596" indent="0">
              <a:buNone/>
            </a:pPr>
            <a:r>
              <a:rPr lang="en-IN" sz="2130" i="1" dirty="0" smtClean="0">
                <a:solidFill>
                  <a:srgbClr val="0000C0"/>
                </a:solidFill>
                <a:latin typeface="Roboto Condensed"/>
              </a:rPr>
              <a:t>			log</a:t>
            </a:r>
            <a:r>
              <a:rPr lang="en-IN" sz="2130" i="1" dirty="0" smtClean="0">
                <a:latin typeface="Roboto Condensed"/>
              </a:rPr>
              <a:t>.info(</a:t>
            </a:r>
            <a:r>
              <a:rPr lang="en-IN" sz="2130" i="1" dirty="0" smtClean="0">
                <a:solidFill>
                  <a:srgbClr val="6A3E3E"/>
                </a:solidFill>
                <a:latin typeface="Roboto Condensed"/>
              </a:rPr>
              <a:t>userBean</a:t>
            </a:r>
            <a:r>
              <a:rPr lang="en-IN" sz="2130" i="1" dirty="0" smtClean="0">
                <a:latin typeface="Roboto Condensed"/>
              </a:rPr>
              <a:t>.toString());</a:t>
            </a:r>
            <a:endParaRPr lang="en-IN" sz="213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latin typeface="Roboto Condensed"/>
              </a:rPr>
              <a:t>		}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	modelMap</a:t>
            </a:r>
            <a:r>
              <a:rPr lang="en-IN" sz="2130" dirty="0" smtClean="0">
                <a:latin typeface="Roboto Condensed"/>
              </a:rPr>
              <a:t>.addAttribute(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“msg"</a:t>
            </a:r>
            <a:r>
              <a:rPr lang="en-IN" sz="2130" dirty="0" smtClean="0">
                <a:latin typeface="Roboto Condensed"/>
              </a:rPr>
              <a:t>,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 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“Got The Session Attribute."</a:t>
            </a:r>
            <a:r>
              <a:rPr lang="en-IN" sz="2130" dirty="0" smtClean="0">
                <a:latin typeface="Roboto Condensed"/>
              </a:rPr>
              <a:t>);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“messagePage"</a:t>
            </a:r>
            <a:r>
              <a:rPr lang="en-IN" sz="2130" dirty="0" smtClean="0">
                <a:latin typeface="Roboto Condensed"/>
              </a:rPr>
              <a:t>;</a:t>
            </a:r>
          </a:p>
          <a:p>
            <a:pPr marL="101596" indent="0">
              <a:buNone/>
            </a:pPr>
            <a:endParaRPr lang="en-IN" sz="180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latin typeface="Roboto Condensed"/>
              </a:rPr>
              <a:t>}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 // 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sessAttribute()</a:t>
            </a:r>
            <a:endParaRPr lang="en-US" sz="2130" dirty="0" smtClean="0"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769687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55643"/>
            <a:ext cx="6730423" cy="538609"/>
          </a:xfrm>
        </p:spPr>
        <p:txBody>
          <a:bodyPr/>
          <a:lstStyle/>
          <a:p>
            <a:r>
              <a:rPr lang="en-IN" sz="3400" dirty="0" smtClean="0"/>
              <a:t>Reading Property File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21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101596" indent="0">
              <a:buNone/>
            </a:pPr>
            <a:r>
              <a:rPr lang="en-US" sz="2130" b="1" u="sng" dirty="0">
                <a:solidFill>
                  <a:schemeClr val="tx1"/>
                </a:solidFill>
                <a:latin typeface="Roboto Condensed"/>
              </a:rPr>
              <a:t>@</a:t>
            </a: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PropertySource &amp; </a:t>
            </a:r>
            <a:r>
              <a:rPr lang="en-US" sz="2130" b="1" u="sng" dirty="0">
                <a:solidFill>
                  <a:schemeClr val="tx1"/>
                </a:solidFill>
                <a:latin typeface="Roboto Condensed"/>
              </a:rPr>
              <a:t>@</a:t>
            </a: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Value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 –</a:t>
            </a:r>
          </a:p>
          <a:p>
            <a:pPr marL="101596" indent="0">
              <a:buNone/>
            </a:pPr>
            <a:endParaRPr lang="en-IN" sz="2130" u="sng" dirty="0" smtClean="0">
              <a:solidFill>
                <a:schemeClr val="tx1"/>
              </a:solidFill>
              <a:latin typeface="Roboto Condensed"/>
            </a:endParaRPr>
          </a:p>
          <a:p>
            <a:r>
              <a:rPr lang="en-IN" sz="2130" b="1" u="sng" dirty="0"/>
              <a:t>@</a:t>
            </a:r>
            <a:r>
              <a:rPr lang="en-IN" sz="2130" b="1" u="sng" dirty="0" smtClean="0"/>
              <a:t>PropertySource</a:t>
            </a:r>
            <a:r>
              <a:rPr lang="en-IN" sz="2130" b="1" dirty="0" smtClean="0"/>
              <a:t> :</a:t>
            </a:r>
            <a:r>
              <a:rPr lang="en-US" sz="2130" b="1" dirty="0">
                <a:solidFill>
                  <a:schemeClr val="tx1"/>
                </a:solidFill>
                <a:latin typeface="Roboto Condensed"/>
              </a:rPr>
              <a:t> 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–</a:t>
            </a:r>
          </a:p>
          <a:p>
            <a:endParaRPr lang="en-US" sz="1000" b="1" dirty="0"/>
          </a:p>
          <a:p>
            <a:pPr lvl="1"/>
            <a:r>
              <a:rPr lang="en-US" sz="2130" dirty="0" smtClean="0">
                <a:latin typeface="Roboto Condensed"/>
              </a:rPr>
              <a:t>	</a:t>
            </a:r>
            <a:r>
              <a:rPr lang="en-US" sz="2130" b="1" dirty="0">
                <a:solidFill>
                  <a:schemeClr val="tx1"/>
                </a:solidFill>
                <a:latin typeface="Roboto Condensed"/>
              </a:rPr>
              <a:t>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– </a:t>
            </a:r>
            <a:r>
              <a:rPr lang="en-US" sz="2130" dirty="0" smtClean="0">
                <a:latin typeface="Roboto Condensed"/>
              </a:rPr>
              <a:t>Annotation providing a convenient and declarative mechanism for adding a ‘PropertySource’ to Spring's Environment.</a:t>
            </a:r>
          </a:p>
          <a:p>
            <a:pPr lvl="1"/>
            <a:r>
              <a:rPr lang="en-US" sz="2130" dirty="0">
                <a:latin typeface="Roboto Condensed"/>
              </a:rPr>
              <a:t>	</a:t>
            </a:r>
            <a:r>
              <a:rPr lang="en-US" sz="2130" b="1" dirty="0">
                <a:solidFill>
                  <a:schemeClr val="tx1"/>
                </a:solidFill>
                <a:latin typeface="Roboto Condensed"/>
              </a:rPr>
              <a:t>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–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Use to specify the property file name with location.</a:t>
            </a:r>
            <a:endParaRPr lang="en-US" sz="2130" dirty="0" smtClean="0">
              <a:latin typeface="Roboto Condensed"/>
            </a:endParaRPr>
          </a:p>
          <a:p>
            <a:pPr lvl="1"/>
            <a:endParaRPr lang="en-IN" sz="2130" dirty="0" smtClean="0">
              <a:latin typeface="Roboto Condensed"/>
            </a:endParaRPr>
          </a:p>
          <a:p>
            <a:r>
              <a:rPr lang="en-IN" sz="2130" b="1" u="sng" dirty="0" smtClean="0">
                <a:solidFill>
                  <a:schemeClr val="tx1"/>
                </a:solidFill>
                <a:latin typeface="Roboto Condensed"/>
              </a:rPr>
              <a:t>@Value</a:t>
            </a:r>
            <a:r>
              <a:rPr lang="en-IN" sz="2130" b="1" dirty="0">
                <a:solidFill>
                  <a:schemeClr val="tx1"/>
                </a:solidFill>
                <a:latin typeface="Roboto Condensed"/>
              </a:rPr>
              <a:t> </a:t>
            </a:r>
            <a:r>
              <a:rPr lang="en-IN" sz="2130" b="1" dirty="0" smtClean="0">
                <a:solidFill>
                  <a:schemeClr val="tx1"/>
                </a:solidFill>
                <a:latin typeface="Roboto Condensed"/>
              </a:rPr>
              <a:t> : 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– </a:t>
            </a:r>
          </a:p>
          <a:p>
            <a:endParaRPr lang="en-US" sz="1000" b="1" dirty="0" smtClean="0">
              <a:solidFill>
                <a:schemeClr val="tx1"/>
              </a:solidFill>
              <a:latin typeface="Roboto Condensed"/>
            </a:endParaRPr>
          </a:p>
          <a:p>
            <a:pPr lvl="1"/>
            <a:r>
              <a:rPr lang="en-US" sz="2130" b="1" dirty="0">
                <a:solidFill>
                  <a:schemeClr val="tx1"/>
                </a:solidFill>
                <a:latin typeface="Roboto Condensed"/>
              </a:rPr>
              <a:t>	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Roboto Condensed"/>
              </a:rPr>
              <a:t>–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Annotation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at the field or method/constructor parameter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level that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indicates a default value expression for the affected argument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.</a:t>
            </a:r>
          </a:p>
          <a:p>
            <a:pPr lvl="1"/>
            <a:r>
              <a:rPr lang="en-US" sz="2130" dirty="0">
                <a:solidFill>
                  <a:schemeClr val="tx1"/>
                </a:solidFill>
                <a:latin typeface="Roboto Condensed"/>
              </a:rPr>
              <a:t>	</a:t>
            </a:r>
            <a:r>
              <a:rPr lang="en-US" sz="2400" dirty="0">
                <a:solidFill>
                  <a:schemeClr val="tx1"/>
                </a:solidFill>
                <a:latin typeface="Roboto Condensed"/>
              </a:rPr>
              <a:t> –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 In Spring MVC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, Typically used for expression-driven dependency injection. Also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supported for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dynamic resolution of handler method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parameters.</a:t>
            </a:r>
          </a:p>
          <a:p>
            <a:pPr lvl="1"/>
            <a:r>
              <a:rPr lang="en-US" sz="2130" dirty="0">
                <a:solidFill>
                  <a:schemeClr val="tx1"/>
                </a:solidFill>
                <a:latin typeface="Roboto Condensed"/>
              </a:rPr>
              <a:t>	</a:t>
            </a:r>
            <a:r>
              <a:rPr lang="en-US" sz="2400" dirty="0">
                <a:solidFill>
                  <a:schemeClr val="tx1"/>
                </a:solidFill>
                <a:latin typeface="Roboto Condensed"/>
              </a:rPr>
              <a:t> –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 Use to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get the value from property file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.</a:t>
            </a:r>
            <a:endParaRPr lang="en-IN" sz="2130" dirty="0" smtClean="0">
              <a:solidFill>
                <a:schemeClr val="tx1"/>
              </a:solidFill>
              <a:latin typeface="Roboto Condensed"/>
            </a:endParaRPr>
          </a:p>
          <a:p>
            <a:endParaRPr lang="en-US" sz="1200" dirty="0" smtClean="0">
              <a:solidFill>
                <a:srgbClr val="646464"/>
              </a:solidFill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03927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55643"/>
            <a:ext cx="6730423" cy="538609"/>
          </a:xfrm>
        </p:spPr>
        <p:txBody>
          <a:bodyPr/>
          <a:lstStyle/>
          <a:p>
            <a:r>
              <a:rPr lang="en-IN" sz="3400" dirty="0" smtClean="0"/>
              <a:t>Reading Property File…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22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657247"/>
          </a:xfrm>
        </p:spPr>
        <p:txBody>
          <a:bodyPr/>
          <a:lstStyle/>
          <a:p>
            <a:pPr marL="101596" indent="0">
              <a:buNone/>
            </a:pP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E.g. –</a:t>
            </a:r>
            <a:endParaRPr lang="en-US" sz="2130" b="1" u="sng" dirty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US" sz="1800" dirty="0" smtClean="0">
              <a:solidFill>
                <a:srgbClr val="646464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dirty="0">
                <a:solidFill>
                  <a:srgbClr val="646464"/>
                </a:solidFill>
                <a:latin typeface="Roboto Condensed"/>
              </a:rPr>
              <a:t>Controller</a:t>
            </a:r>
          </a:p>
          <a:p>
            <a:pPr marL="101596" indent="0">
              <a:buNone/>
            </a:pPr>
            <a:r>
              <a:rPr lang="en-IN" sz="2130" dirty="0">
                <a:solidFill>
                  <a:srgbClr val="646464"/>
                </a:solidFill>
                <a:latin typeface="Roboto Condensed"/>
              </a:rPr>
              <a:t>@RequestMapping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"/session"</a:t>
            </a:r>
            <a:r>
              <a:rPr lang="en-IN" sz="2130" dirty="0">
                <a:latin typeface="Roboto Condensed"/>
              </a:rPr>
              <a:t>)</a:t>
            </a:r>
            <a:endParaRPr lang="en-US" sz="2130" dirty="0" smtClean="0">
              <a:solidFill>
                <a:srgbClr val="646464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b="1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b="1" dirty="0">
                <a:solidFill>
                  <a:srgbClr val="646464"/>
                </a:solidFill>
                <a:latin typeface="Roboto Condensed"/>
              </a:rPr>
              <a:t>PropertySource</a:t>
            </a:r>
            <a:r>
              <a:rPr lang="en-IN" sz="2130" b="1" dirty="0">
                <a:latin typeface="Roboto Condensed"/>
              </a:rPr>
              <a:t>(</a:t>
            </a:r>
            <a:r>
              <a:rPr lang="en-IN" sz="2130" b="1" dirty="0">
                <a:solidFill>
                  <a:srgbClr val="2A00FF"/>
                </a:solidFill>
                <a:latin typeface="Roboto Condensed"/>
              </a:rPr>
              <a:t>"classpath:msg.properties"</a:t>
            </a:r>
            <a:r>
              <a:rPr lang="en-IN" sz="2130" b="1" dirty="0">
                <a:latin typeface="Roboto Condensed"/>
              </a:rPr>
              <a:t>)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solidFill>
                  <a:srgbClr val="7F0055"/>
                </a:solidFill>
                <a:latin typeface="Roboto Condensed"/>
              </a:rPr>
              <a:t>class</a:t>
            </a:r>
            <a:r>
              <a:rPr lang="en-IN" sz="2130" dirty="0">
                <a:latin typeface="Roboto Condensed"/>
              </a:rPr>
              <a:t> SessionController </a:t>
            </a:r>
            <a:r>
              <a:rPr lang="en-IN" sz="2130" dirty="0" smtClean="0">
                <a:latin typeface="Roboto Condensed"/>
              </a:rPr>
              <a:t>{</a:t>
            </a:r>
          </a:p>
          <a:p>
            <a:pPr marL="101596" indent="0">
              <a:buNone/>
            </a:pPr>
            <a:r>
              <a:rPr lang="en-US" sz="2130" dirty="0" smtClean="0">
                <a:latin typeface="Roboto Condensed"/>
              </a:rPr>
              <a:t>	</a:t>
            </a:r>
            <a:r>
              <a:rPr lang="en-IN" sz="2130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dirty="0">
                <a:solidFill>
                  <a:srgbClr val="646464"/>
                </a:solidFill>
                <a:latin typeface="Roboto Condensed"/>
              </a:rPr>
              <a:t>GetMapping</a:t>
            </a:r>
            <a:r>
              <a:rPr lang="en-IN" sz="2130" dirty="0" smtClean="0">
                <a:latin typeface="Roboto Condensed"/>
              </a:rPr>
              <a:t>(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"/userHome"</a:t>
            </a:r>
            <a:r>
              <a:rPr lang="en-IN" sz="2130" dirty="0" smtClean="0">
                <a:latin typeface="Roboto Condensed"/>
              </a:rPr>
              <a:t>)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public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latin typeface="Roboto Condensed"/>
              </a:rPr>
              <a:t>String </a:t>
            </a:r>
            <a:r>
              <a:rPr lang="en-IN" sz="2130" dirty="0" smtClean="0">
                <a:latin typeface="Roboto Condensed"/>
              </a:rPr>
              <a:t>userHome(HttpSession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session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b="1" dirty="0">
                <a:solidFill>
                  <a:srgbClr val="646464"/>
                </a:solidFill>
                <a:latin typeface="Roboto Condensed"/>
              </a:rPr>
              <a:t>@Value</a:t>
            </a:r>
            <a:r>
              <a:rPr lang="en-IN" sz="2130" b="1" dirty="0">
                <a:latin typeface="Roboto Condensed"/>
              </a:rPr>
              <a:t>(</a:t>
            </a:r>
            <a:r>
              <a:rPr lang="en-IN" sz="2130" b="1" dirty="0">
                <a:solidFill>
                  <a:srgbClr val="2A00FF"/>
                </a:solidFill>
                <a:latin typeface="Roboto Condensed"/>
              </a:rPr>
              <a:t>"${msg}"</a:t>
            </a:r>
            <a:r>
              <a:rPr lang="en-IN" sz="2130" b="1" dirty="0">
                <a:latin typeface="Roboto Condensed"/>
              </a:rPr>
              <a:t>) String </a:t>
            </a:r>
            <a:r>
              <a:rPr lang="en-IN" sz="2130" b="1" dirty="0" smtClean="0">
                <a:solidFill>
                  <a:srgbClr val="6A3E3E"/>
                </a:solidFill>
                <a:latin typeface="Roboto Condensed"/>
              </a:rPr>
              <a:t>msg</a:t>
            </a:r>
            <a:r>
              <a:rPr lang="en-IN" sz="2130" dirty="0" smtClean="0">
                <a:latin typeface="Roboto Condensed"/>
              </a:rPr>
              <a:t>,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646464"/>
                </a:solidFill>
                <a:latin typeface="Roboto Condensed"/>
              </a:rPr>
              <a:t>	</a:t>
            </a:r>
            <a:r>
              <a:rPr lang="en-IN" sz="2130" dirty="0">
                <a:solidFill>
                  <a:srgbClr val="646464"/>
                </a:solidFill>
                <a:latin typeface="Roboto Condensed"/>
              </a:rPr>
              <a:t>	</a:t>
            </a:r>
            <a:r>
              <a:rPr lang="en-IN" sz="2130" dirty="0" smtClean="0">
                <a:latin typeface="Roboto Condensed"/>
              </a:rPr>
              <a:t>ModelMap 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modelMap</a:t>
            </a:r>
            <a:r>
              <a:rPr lang="en-IN" sz="2130" dirty="0" smtClean="0">
                <a:latin typeface="Roboto Condensed"/>
              </a:rPr>
              <a:t>) </a:t>
            </a:r>
            <a:r>
              <a:rPr lang="en-IN" sz="2130" dirty="0">
                <a:latin typeface="Roboto Condensed"/>
              </a:rPr>
              <a:t>{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		if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6A3E3E"/>
                </a:solidFill>
                <a:latin typeface="Roboto Condensed"/>
              </a:rPr>
              <a:t>session</a:t>
            </a:r>
            <a:r>
              <a:rPr lang="en-IN" sz="2130" dirty="0">
                <a:latin typeface="Roboto Condensed"/>
              </a:rPr>
              <a:t>.isNew()) </a:t>
            </a:r>
            <a:r>
              <a:rPr lang="en-IN" sz="2130" dirty="0" smtClean="0">
                <a:latin typeface="Roboto Condensed"/>
              </a:rPr>
              <a:t>{</a:t>
            </a:r>
          </a:p>
          <a:p>
            <a:pPr marL="101596" indent="0">
              <a:buNone/>
            </a:pPr>
            <a:r>
              <a:rPr lang="en-US" sz="2130" dirty="0">
                <a:latin typeface="Roboto Condensed"/>
              </a:rPr>
              <a:t>	</a:t>
            </a:r>
            <a:r>
              <a:rPr lang="en-US" sz="2130" dirty="0" smtClean="0">
                <a:latin typeface="Roboto Condensed"/>
              </a:rPr>
              <a:t>		</a:t>
            </a:r>
            <a:r>
              <a:rPr lang="en-US" sz="2130" dirty="0">
                <a:latin typeface="Roboto Condensed"/>
              </a:rPr>
              <a:t>	</a:t>
            </a: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session</a:t>
            </a:r>
            <a:r>
              <a:rPr lang="en-IN" sz="2130" dirty="0" smtClean="0">
                <a:latin typeface="Roboto Condensed"/>
              </a:rPr>
              <a:t>.invalidate</a:t>
            </a:r>
            <a:r>
              <a:rPr lang="en-IN" sz="2130" dirty="0">
                <a:latin typeface="Roboto Condensed"/>
              </a:rPr>
              <a:t>();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6A3E3E"/>
                </a:solidFill>
                <a:latin typeface="Roboto Condensed"/>
              </a:rPr>
              <a:t>				modelMap</a:t>
            </a:r>
            <a:r>
              <a:rPr lang="en-IN" sz="2130" dirty="0" smtClean="0">
                <a:latin typeface="Roboto Condensed"/>
              </a:rPr>
              <a:t>.addAttribute</a:t>
            </a:r>
            <a:r>
              <a:rPr lang="en-IN" sz="2130" dirty="0">
                <a:latin typeface="Roboto Condensed"/>
              </a:rPr>
              <a:t>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"msg"</a:t>
            </a:r>
            <a:r>
              <a:rPr lang="en-IN" sz="2130" dirty="0">
                <a:latin typeface="Roboto Condensed"/>
              </a:rPr>
              <a:t>, </a:t>
            </a:r>
            <a:r>
              <a:rPr lang="en-IN" sz="2130" b="1" dirty="0">
                <a:solidFill>
                  <a:srgbClr val="6A3E3E"/>
                </a:solidFill>
                <a:latin typeface="Roboto Condensed"/>
              </a:rPr>
              <a:t>msg</a:t>
            </a:r>
            <a:r>
              <a:rPr lang="en-IN" sz="2130" dirty="0" smtClean="0">
                <a:latin typeface="Roboto Condensed"/>
              </a:rPr>
              <a:t>);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		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"loginForm"</a:t>
            </a:r>
            <a:r>
              <a:rPr lang="en-IN" sz="2130" dirty="0">
                <a:latin typeface="Roboto Condensed"/>
              </a:rPr>
              <a:t>;</a:t>
            </a:r>
          </a:p>
          <a:p>
            <a:pPr marL="101596" indent="0">
              <a:buNone/>
            </a:pPr>
            <a:r>
              <a:rPr lang="en-IN" sz="2130" dirty="0" smtClean="0">
                <a:latin typeface="Roboto Condensed"/>
              </a:rPr>
              <a:t>			}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Roboto Condensed"/>
              </a:rPr>
              <a:t>		return</a:t>
            </a:r>
            <a:r>
              <a:rPr lang="en-IN" sz="2130" dirty="0" smtClean="0">
                <a:latin typeface="Roboto Condensed"/>
              </a:rPr>
              <a:t> 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“userHome”</a:t>
            </a:r>
            <a:r>
              <a:rPr lang="en-IN" sz="2130" dirty="0">
                <a:latin typeface="Roboto Condensed"/>
              </a:rPr>
              <a:t>;</a:t>
            </a:r>
          </a:p>
          <a:p>
            <a:pPr marL="101596" indent="0">
              <a:buNone/>
            </a:pPr>
            <a:r>
              <a:rPr lang="en-IN" sz="2130" dirty="0" smtClean="0">
                <a:latin typeface="Roboto Condensed"/>
              </a:rPr>
              <a:t>	}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// 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userHome()</a:t>
            </a:r>
            <a:endParaRPr lang="en-IN" sz="213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US" sz="2130" dirty="0" smtClean="0">
                <a:latin typeface="Roboto Condensed"/>
              </a:rPr>
              <a:t>} 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// 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Controller</a:t>
            </a:r>
            <a:endParaRPr lang="en-IN" sz="2130" dirty="0">
              <a:latin typeface="Roboto Condense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48747" y="1328906"/>
            <a:ext cx="321417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 smtClean="0"/>
              <a:t>Msg.properties</a:t>
            </a:r>
          </a:p>
          <a:p>
            <a:endParaRPr lang="en-US" dirty="0"/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msg=</a:t>
            </a:r>
            <a:r>
              <a:rPr lang="en-IN" dirty="0">
                <a:solidFill>
                  <a:srgbClr val="2A00FF"/>
                </a:solidFill>
                <a:latin typeface="Consolas" panose="020B0609020204030204" pitchFamily="49" charset="0"/>
              </a:rPr>
              <a:t>Please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2A00FF"/>
                </a:solidFill>
                <a:latin typeface="Consolas" panose="020B0609020204030204" pitchFamily="49" charset="0"/>
              </a:rPr>
              <a:t>L</a:t>
            </a:r>
            <a:r>
              <a:rPr lang="en-IN" dirty="0" smtClean="0">
                <a:solidFill>
                  <a:srgbClr val="2A00FF"/>
                </a:solidFill>
                <a:latin typeface="Consolas" panose="020B0609020204030204" pitchFamily="49" charset="0"/>
              </a:rPr>
              <a:t>ogin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2A00FF"/>
                </a:solidFill>
                <a:latin typeface="Consolas" panose="020B0609020204030204" pitchFamily="49" charset="0"/>
              </a:rPr>
              <a:t>F</a:t>
            </a:r>
            <a:r>
              <a:rPr lang="en-IN" dirty="0" smtClean="0">
                <a:solidFill>
                  <a:srgbClr val="2A00FF"/>
                </a:solidFill>
                <a:latin typeface="Consolas" panose="020B0609020204030204" pitchFamily="49" charset="0"/>
              </a:rPr>
              <a:t>irst!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055951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55643"/>
            <a:ext cx="6730423" cy="538609"/>
          </a:xfrm>
        </p:spPr>
        <p:txBody>
          <a:bodyPr/>
          <a:lstStyle/>
          <a:p>
            <a:r>
              <a:rPr lang="en-IN" sz="3400" dirty="0" smtClean="0"/>
              <a:t>Path Parameter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23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9400" y="804333"/>
            <a:ext cx="11633200" cy="5420784"/>
          </a:xfrm>
        </p:spPr>
        <p:txBody>
          <a:bodyPr/>
          <a:lstStyle/>
          <a:p>
            <a:pPr marL="101596" indent="0">
              <a:buNone/>
            </a:pPr>
            <a:endParaRPr lang="en-US" sz="2130" b="1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@PathVariable –</a:t>
            </a:r>
          </a:p>
          <a:p>
            <a:endParaRPr lang="en-US" sz="2130" dirty="0" smtClean="0">
              <a:solidFill>
                <a:schemeClr val="tx1"/>
              </a:solidFill>
              <a:latin typeface="Roboto Condensed"/>
            </a:endParaRPr>
          </a:p>
          <a:p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Annotation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which indicates that a method parameter should be bound to a URI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template variable (i.e. Path parameter).</a:t>
            </a:r>
          </a:p>
          <a:p>
            <a:pPr marL="101596" indent="0">
              <a:buNone/>
            </a:pPr>
            <a:endParaRPr lang="en-US" sz="1800" dirty="0">
              <a:solidFill>
                <a:schemeClr val="tx1"/>
              </a:solidFill>
              <a:latin typeface="Roboto Condensed"/>
            </a:endParaRPr>
          </a:p>
          <a:p>
            <a:endParaRPr lang="en-US" sz="1800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646464"/>
                </a:solidFill>
                <a:latin typeface="Roboto Condensed"/>
              </a:rPr>
              <a:t>@GetMapping</a:t>
            </a:r>
            <a:r>
              <a:rPr lang="en-IN" sz="2130" dirty="0" smtClean="0">
                <a:latin typeface="Roboto Condensed"/>
              </a:rPr>
              <a:t>(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"/validate/{name}"</a:t>
            </a:r>
            <a:r>
              <a:rPr lang="en-IN" sz="2130" dirty="0" smtClean="0">
                <a:latin typeface="Roboto Condensed"/>
              </a:rPr>
              <a:t>)</a:t>
            </a: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US" sz="2130" dirty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US" sz="2130" dirty="0">
                <a:latin typeface="Roboto Condensed"/>
              </a:rPr>
              <a:t> String </a:t>
            </a:r>
            <a:r>
              <a:rPr lang="en-US" sz="2130" dirty="0" smtClean="0">
                <a:latin typeface="Roboto Condensed"/>
              </a:rPr>
              <a:t>getPathVariable(</a:t>
            </a:r>
            <a:r>
              <a:rPr lang="en-IN" sz="2130" b="1" dirty="0" smtClean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b="1" dirty="0">
                <a:solidFill>
                  <a:srgbClr val="646464"/>
                </a:solidFill>
                <a:latin typeface="Roboto Condensed"/>
              </a:rPr>
              <a:t>PathVariable</a:t>
            </a:r>
            <a:r>
              <a:rPr lang="en-IN" sz="2130" b="1" dirty="0" smtClean="0">
                <a:latin typeface="Roboto Condensed"/>
              </a:rPr>
              <a:t>(</a:t>
            </a:r>
            <a:r>
              <a:rPr lang="en-IN" sz="2130" b="1" dirty="0" smtClean="0">
                <a:solidFill>
                  <a:srgbClr val="2A00FF"/>
                </a:solidFill>
                <a:latin typeface="Roboto Condensed"/>
              </a:rPr>
              <a:t>“name"</a:t>
            </a:r>
            <a:r>
              <a:rPr lang="en-IN" sz="2130" b="1" dirty="0" smtClean="0">
                <a:latin typeface="Roboto Condensed"/>
              </a:rPr>
              <a:t>) </a:t>
            </a:r>
            <a:r>
              <a:rPr lang="en-IN" sz="2130" b="1" dirty="0">
                <a:latin typeface="Roboto Condensed"/>
              </a:rPr>
              <a:t>String </a:t>
            </a:r>
            <a:r>
              <a:rPr lang="en-IN" sz="2130" b="1" dirty="0" smtClean="0">
                <a:solidFill>
                  <a:srgbClr val="6A3E3E"/>
                </a:solidFill>
                <a:latin typeface="Roboto Condensed"/>
              </a:rPr>
              <a:t>name</a:t>
            </a:r>
            <a:r>
              <a:rPr lang="en-IN" sz="2130" dirty="0" smtClean="0">
                <a:latin typeface="Roboto Condensed"/>
              </a:rPr>
              <a:t>) {</a:t>
            </a:r>
          </a:p>
          <a:p>
            <a:pPr marL="101596" indent="0">
              <a:buNone/>
            </a:pPr>
            <a:endParaRPr lang="en-US" sz="2130" dirty="0" smtClean="0">
              <a:latin typeface="Roboto Condensed"/>
            </a:endParaRPr>
          </a:p>
          <a:p>
            <a:pPr marL="101596" indent="0">
              <a:buNone/>
            </a:pPr>
            <a:r>
              <a:rPr lang="en-US" sz="2130" dirty="0">
                <a:latin typeface="Roboto Condensed"/>
              </a:rPr>
              <a:t>	</a:t>
            </a:r>
            <a:r>
              <a:rPr lang="en-IN" sz="2130" i="1" dirty="0">
                <a:solidFill>
                  <a:srgbClr val="0000C0"/>
                </a:solidFill>
                <a:latin typeface="Roboto Condensed"/>
              </a:rPr>
              <a:t> </a:t>
            </a:r>
            <a:r>
              <a:rPr lang="en-US" sz="2130" i="1" dirty="0">
                <a:solidFill>
                  <a:srgbClr val="0000C0"/>
                </a:solidFill>
                <a:latin typeface="Roboto Condensed"/>
              </a:rPr>
              <a:t>log</a:t>
            </a:r>
            <a:r>
              <a:rPr lang="en-US" sz="2130" i="1" dirty="0">
                <a:latin typeface="Roboto Condensed"/>
              </a:rPr>
              <a:t>.info(</a:t>
            </a:r>
            <a:r>
              <a:rPr lang="en-US" sz="2130" i="1" dirty="0">
                <a:solidFill>
                  <a:srgbClr val="2A00FF"/>
                </a:solidFill>
                <a:latin typeface="Roboto Condensed"/>
              </a:rPr>
              <a:t>"path variable value is "</a:t>
            </a:r>
            <a:r>
              <a:rPr lang="en-US" sz="2130" i="1" dirty="0">
                <a:latin typeface="Roboto Condensed"/>
              </a:rPr>
              <a:t> + </a:t>
            </a:r>
            <a:r>
              <a:rPr lang="en-US" sz="2130" i="1" dirty="0" smtClean="0">
                <a:solidFill>
                  <a:srgbClr val="6A3E3E"/>
                </a:solidFill>
                <a:latin typeface="Roboto Condensed"/>
              </a:rPr>
              <a:t>name</a:t>
            </a:r>
            <a:r>
              <a:rPr lang="en-US" sz="2130" i="1" dirty="0" smtClean="0">
                <a:latin typeface="Roboto Condensed"/>
              </a:rPr>
              <a:t>);</a:t>
            </a:r>
            <a:endParaRPr lang="en-US" sz="2130" i="1" dirty="0">
              <a:latin typeface="Roboto Condensed"/>
            </a:endParaRPr>
          </a:p>
          <a:p>
            <a:pPr marL="101596" indent="0">
              <a:buNone/>
            </a:pPr>
            <a:r>
              <a:rPr lang="en-US" sz="2130" i="1" dirty="0" smtClean="0">
                <a:latin typeface="Roboto Condensed"/>
              </a:rPr>
              <a:t>	</a:t>
            </a:r>
            <a:r>
              <a:rPr lang="en-IN" sz="2130" dirty="0">
                <a:solidFill>
                  <a:srgbClr val="7F0055"/>
                </a:solidFill>
                <a:latin typeface="Roboto Condensed"/>
              </a:rPr>
              <a:t> return</a:t>
            </a:r>
            <a:r>
              <a:rPr lang="en-IN" sz="2130" dirty="0">
                <a:latin typeface="Roboto Condensed"/>
              </a:rPr>
              <a:t> </a:t>
            </a:r>
            <a:r>
              <a:rPr lang="en-IN" sz="2130" dirty="0" smtClean="0">
                <a:solidFill>
                  <a:srgbClr val="2A00FF"/>
                </a:solidFill>
                <a:latin typeface="Roboto Condensed"/>
              </a:rPr>
              <a:t>“index"</a:t>
            </a:r>
            <a:r>
              <a:rPr lang="en-IN" sz="2130" dirty="0" smtClean="0">
                <a:latin typeface="Roboto Condensed"/>
              </a:rPr>
              <a:t>;</a:t>
            </a:r>
          </a:p>
          <a:p>
            <a:pPr marL="101596" indent="0">
              <a:buNone/>
            </a:pPr>
            <a:endParaRPr lang="en-IN" sz="2130" dirty="0">
              <a:latin typeface="Roboto Condensed"/>
            </a:endParaRPr>
          </a:p>
          <a:p>
            <a:pPr marL="101596" indent="0">
              <a:buNone/>
            </a:pPr>
            <a:r>
              <a:rPr lang="en-IN" sz="2130" dirty="0" smtClean="0">
                <a:latin typeface="Roboto Condensed"/>
              </a:rPr>
              <a:t>}</a:t>
            </a:r>
            <a:r>
              <a:rPr lang="en-IN" sz="2400" dirty="0">
                <a:solidFill>
                  <a:srgbClr val="3F7F5F"/>
                </a:solidFill>
                <a:latin typeface="Roboto Condensed"/>
              </a:rPr>
              <a:t> </a:t>
            </a:r>
            <a:r>
              <a:rPr lang="en-IN" sz="2130" dirty="0">
                <a:solidFill>
                  <a:srgbClr val="3F7F5F"/>
                </a:solidFill>
                <a:latin typeface="Roboto Condensed"/>
              </a:rPr>
              <a:t>// End of </a:t>
            </a:r>
            <a:r>
              <a:rPr lang="en-IN" sz="2130" dirty="0" smtClean="0">
                <a:solidFill>
                  <a:srgbClr val="3F7F5F"/>
                </a:solidFill>
                <a:latin typeface="Roboto Condensed"/>
              </a:rPr>
              <a:t>getPathVariable()</a:t>
            </a:r>
            <a:endParaRPr lang="en-IN" sz="2130" dirty="0" smtClean="0">
              <a:solidFill>
                <a:schemeClr val="tx1"/>
              </a:solidFill>
              <a:latin typeface="Roboto Condensed"/>
            </a:endParaRPr>
          </a:p>
          <a:p>
            <a:endParaRPr lang="en-US" sz="1800" dirty="0" smtClean="0">
              <a:solidFill>
                <a:srgbClr val="646464"/>
              </a:solidFill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337610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55643"/>
            <a:ext cx="6730423" cy="538609"/>
          </a:xfrm>
        </p:spPr>
        <p:txBody>
          <a:bodyPr/>
          <a:lstStyle/>
          <a:p>
            <a:r>
              <a:rPr lang="en-IN" sz="3400" dirty="0" smtClean="0"/>
              <a:t>Handling / Binding Date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24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61365" y="804332"/>
            <a:ext cx="11751235" cy="5657247"/>
          </a:xfrm>
        </p:spPr>
        <p:txBody>
          <a:bodyPr/>
          <a:lstStyle/>
          <a:p>
            <a:pPr marL="101596" indent="0">
              <a:buNone/>
            </a:pPr>
            <a:r>
              <a:rPr lang="en-US" sz="2130" b="1" u="sng" dirty="0" smtClean="0">
                <a:solidFill>
                  <a:schemeClr val="tx1"/>
                </a:solidFill>
                <a:latin typeface="Roboto Condensed"/>
              </a:rPr>
              <a:t>@</a:t>
            </a:r>
            <a:r>
              <a:rPr lang="en-US" sz="2130" b="1" u="sng" dirty="0">
                <a:solidFill>
                  <a:schemeClr val="tx1"/>
                </a:solidFill>
                <a:latin typeface="Roboto Condensed"/>
              </a:rPr>
              <a:t>InitBinder</a:t>
            </a:r>
            <a:r>
              <a:rPr lang="en-US" sz="2130" b="1" dirty="0">
                <a:solidFill>
                  <a:schemeClr val="tx1"/>
                </a:solidFill>
                <a:latin typeface="Roboto Condensed"/>
              </a:rPr>
              <a:t> </a:t>
            </a:r>
            <a:r>
              <a:rPr lang="en-US" sz="2130" b="1" dirty="0" smtClean="0">
                <a:solidFill>
                  <a:schemeClr val="tx1"/>
                </a:solidFill>
                <a:latin typeface="Roboto Condensed"/>
              </a:rPr>
              <a:t>–</a:t>
            </a:r>
          </a:p>
          <a:p>
            <a:pPr marL="101596" indent="0">
              <a:buNone/>
            </a:pPr>
            <a:endParaRPr lang="en-US" sz="1000" b="1" dirty="0" smtClean="0">
              <a:solidFill>
                <a:schemeClr val="tx1"/>
              </a:solidFill>
              <a:latin typeface="Roboto Condensed"/>
            </a:endParaRPr>
          </a:p>
          <a:p>
            <a:r>
              <a:rPr lang="en-US" sz="2130" dirty="0">
                <a:solidFill>
                  <a:schemeClr val="tx1"/>
                </a:solidFill>
                <a:latin typeface="Roboto Condensed"/>
              </a:rPr>
              <a:t>Annotation that identifies methods which initialize the </a:t>
            </a:r>
            <a:r>
              <a:rPr lang="en-US" sz="2130" i="1" dirty="0">
                <a:solidFill>
                  <a:schemeClr val="tx1"/>
                </a:solidFill>
                <a:latin typeface="Roboto Condensed"/>
              </a:rPr>
              <a:t>org.springframework.web.bind.WebDataBinder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which will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be used for populating command and form object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arguments of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annotated handler 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methods</a:t>
            </a:r>
          </a:p>
          <a:p>
            <a:endParaRPr lang="en-US" sz="1000" dirty="0" smtClean="0">
              <a:solidFill>
                <a:schemeClr val="tx1"/>
              </a:solidFill>
              <a:latin typeface="Roboto Condensed"/>
            </a:endParaRPr>
          </a:p>
          <a:p>
            <a:r>
              <a:rPr lang="en-US" sz="2130" i="1" dirty="0" smtClean="0">
                <a:solidFill>
                  <a:schemeClr val="tx1"/>
                </a:solidFill>
                <a:latin typeface="Roboto Condensed"/>
              </a:rPr>
              <a:t>“Init-binder”</a:t>
            </a:r>
            <a:r>
              <a:rPr lang="en-US" sz="2130" dirty="0" smtClean="0">
                <a:solidFill>
                  <a:schemeClr val="tx1"/>
                </a:solidFill>
                <a:latin typeface="Roboto Condensed"/>
              </a:rPr>
              <a:t>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methods must not have a return value; </a:t>
            </a:r>
            <a:r>
              <a:rPr lang="en-US" sz="2130">
                <a:solidFill>
                  <a:schemeClr val="tx1"/>
                </a:solidFill>
                <a:latin typeface="Roboto Condensed"/>
              </a:rPr>
              <a:t>they </a:t>
            </a:r>
            <a:r>
              <a:rPr lang="en-US" sz="2130" smtClean="0">
                <a:solidFill>
                  <a:schemeClr val="tx1"/>
                </a:solidFill>
                <a:latin typeface="Roboto Condensed"/>
              </a:rPr>
              <a:t>are declared </a:t>
            </a:r>
            <a:r>
              <a:rPr lang="en-US" sz="2130" dirty="0">
                <a:solidFill>
                  <a:schemeClr val="tx1"/>
                </a:solidFill>
                <a:latin typeface="Roboto Condensed"/>
              </a:rPr>
              <a:t>as void.</a:t>
            </a:r>
            <a:endParaRPr lang="en-US" sz="2130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US" sz="1600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dirty="0">
                <a:latin typeface="Roboto Condensed"/>
              </a:rPr>
              <a:t>Controller</a:t>
            </a:r>
          </a:p>
          <a:p>
            <a:pPr marL="101596" indent="0">
              <a:buNone/>
            </a:pPr>
            <a:r>
              <a:rPr lang="en-IN" sz="2130" dirty="0">
                <a:solidFill>
                  <a:srgbClr val="646464"/>
                </a:solidFill>
                <a:latin typeface="Roboto Condensed"/>
              </a:rPr>
              <a:t>@</a:t>
            </a:r>
            <a:r>
              <a:rPr lang="en-IN" sz="2130" dirty="0">
                <a:latin typeface="Roboto Condensed"/>
              </a:rPr>
              <a:t>RequestMapping(</a:t>
            </a:r>
            <a:r>
              <a:rPr lang="en-IN" sz="2130" dirty="0">
                <a:solidFill>
                  <a:srgbClr val="2A00FF"/>
                </a:solidFill>
                <a:latin typeface="Roboto Condensed"/>
              </a:rPr>
              <a:t>"/empdate"</a:t>
            </a:r>
            <a:r>
              <a:rPr lang="en-IN" sz="2130" dirty="0">
                <a:latin typeface="Roboto Condensed"/>
              </a:rPr>
              <a:t>)</a:t>
            </a:r>
          </a:p>
          <a:p>
            <a:pPr marL="101596" indent="0">
              <a:buNone/>
            </a:pPr>
            <a:r>
              <a:rPr lang="en-IN" sz="2130" dirty="0">
                <a:solidFill>
                  <a:srgbClr val="7F0055"/>
                </a:solidFill>
                <a:latin typeface="Roboto Condensed"/>
              </a:rPr>
              <a:t>public</a:t>
            </a:r>
            <a:r>
              <a:rPr lang="en-IN" sz="2130" dirty="0">
                <a:latin typeface="Roboto Condensed"/>
              </a:rPr>
              <a:t> </a:t>
            </a:r>
            <a:r>
              <a:rPr lang="en-IN" sz="2130" dirty="0">
                <a:solidFill>
                  <a:srgbClr val="7F0055"/>
                </a:solidFill>
                <a:latin typeface="Roboto Condensed"/>
              </a:rPr>
              <a:t>class</a:t>
            </a:r>
            <a:r>
              <a:rPr lang="en-IN" sz="2130" dirty="0">
                <a:latin typeface="Roboto Condensed"/>
              </a:rPr>
              <a:t> EmpController {</a:t>
            </a:r>
            <a:endParaRPr lang="en-US" sz="2130" u="sng" dirty="0" smtClean="0">
              <a:solidFill>
                <a:schemeClr val="tx1"/>
              </a:solidFill>
              <a:latin typeface="Roboto Condensed"/>
            </a:endParaRPr>
          </a:p>
          <a:p>
            <a:pPr marL="101596" indent="0">
              <a:buNone/>
            </a:pPr>
            <a:endParaRPr lang="en-IN" sz="1000" dirty="0" smtClean="0">
              <a:solidFill>
                <a:srgbClr val="646464"/>
              </a:solidFill>
              <a:latin typeface="Consolas" panose="020B0609020204030204" pitchFamily="49" charset="0"/>
            </a:endParaRPr>
          </a:p>
          <a:p>
            <a:pPr marL="101596" indent="0">
              <a:buNone/>
            </a:pPr>
            <a:r>
              <a:rPr lang="en-IN" sz="2130" dirty="0">
                <a:solidFill>
                  <a:srgbClr val="646464"/>
                </a:solidFill>
                <a:latin typeface="Consolas" panose="020B0609020204030204" pitchFamily="49" charset="0"/>
              </a:rPr>
              <a:t> </a:t>
            </a:r>
            <a:r>
              <a:rPr lang="en-IN" sz="2130" dirty="0" smtClean="0">
                <a:solidFill>
                  <a:srgbClr val="646464"/>
                </a:solidFill>
                <a:latin typeface="Consolas" panose="020B0609020204030204" pitchFamily="49" charset="0"/>
              </a:rPr>
              <a:t>  </a:t>
            </a:r>
            <a:r>
              <a:rPr lang="en-IN" sz="2130" b="1" dirty="0" smtClean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IN" sz="2130" b="1" dirty="0">
                <a:solidFill>
                  <a:srgbClr val="646464"/>
                </a:solidFill>
                <a:latin typeface="Consolas" panose="020B0609020204030204" pitchFamily="49" charset="0"/>
              </a:rPr>
              <a:t>InitBinder</a:t>
            </a:r>
          </a:p>
          <a:p>
            <a:pPr marL="101596" indent="0">
              <a:buNone/>
            </a:pPr>
            <a:r>
              <a:rPr lang="en-IN" sz="2130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public</a:t>
            </a:r>
            <a:r>
              <a:rPr lang="en-IN" sz="2130" dirty="0" smtClean="0">
                <a:latin typeface="Consolas" panose="020B0609020204030204" pitchFamily="49" charset="0"/>
              </a:rPr>
              <a:t> </a:t>
            </a:r>
            <a:r>
              <a:rPr lang="en-IN" sz="2130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IN" sz="2130" dirty="0">
                <a:latin typeface="Consolas" panose="020B0609020204030204" pitchFamily="49" charset="0"/>
              </a:rPr>
              <a:t> initBinder(WebDataBinder </a:t>
            </a:r>
            <a:r>
              <a:rPr lang="en-IN" sz="2130" dirty="0">
                <a:solidFill>
                  <a:srgbClr val="6A3E3E"/>
                </a:solidFill>
                <a:latin typeface="Consolas" panose="020B0609020204030204" pitchFamily="49" charset="0"/>
              </a:rPr>
              <a:t>binder</a:t>
            </a:r>
            <a:r>
              <a:rPr lang="en-IN" sz="2130" dirty="0">
                <a:latin typeface="Consolas" panose="020B0609020204030204" pitchFamily="49" charset="0"/>
              </a:rPr>
              <a:t>) {</a:t>
            </a:r>
          </a:p>
          <a:p>
            <a:pPr marL="101596" indent="0">
              <a:buNone/>
            </a:pPr>
            <a:r>
              <a:rPr lang="en-US" sz="2130" dirty="0" smtClean="0">
                <a:latin typeface="Consolas" panose="020B0609020204030204" pitchFamily="49" charset="0"/>
              </a:rPr>
              <a:t>	CustomDateEditor </a:t>
            </a:r>
            <a:r>
              <a:rPr lang="en-US" sz="213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editor</a:t>
            </a:r>
            <a:endParaRPr lang="en-US" sz="2130" dirty="0" smtClean="0">
              <a:latin typeface="Consolas" panose="020B0609020204030204" pitchFamily="49" charset="0"/>
            </a:endParaRPr>
          </a:p>
          <a:p>
            <a:pPr marL="101596" indent="0">
              <a:buNone/>
            </a:pPr>
            <a:r>
              <a:rPr lang="en-US" sz="2130" dirty="0">
                <a:latin typeface="Consolas" panose="020B0609020204030204" pitchFamily="49" charset="0"/>
              </a:rPr>
              <a:t>		</a:t>
            </a:r>
            <a:r>
              <a:rPr lang="en-US" sz="2130" dirty="0" smtClean="0">
                <a:latin typeface="Consolas" panose="020B0609020204030204" pitchFamily="49" charset="0"/>
              </a:rPr>
              <a:t>= </a:t>
            </a:r>
            <a:r>
              <a:rPr lang="en-US" sz="213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2130" dirty="0">
                <a:latin typeface="Consolas" panose="020B0609020204030204" pitchFamily="49" charset="0"/>
              </a:rPr>
              <a:t> CustomDateEditor(</a:t>
            </a:r>
            <a:r>
              <a:rPr lang="en-US" sz="213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2130" dirty="0">
                <a:latin typeface="Consolas" panose="020B0609020204030204" pitchFamily="49" charset="0"/>
              </a:rPr>
              <a:t> SimpleDateFormat(</a:t>
            </a:r>
            <a:r>
              <a:rPr lang="en-US" sz="2130" dirty="0">
                <a:solidFill>
                  <a:srgbClr val="2A00FF"/>
                </a:solidFill>
                <a:latin typeface="Consolas" panose="020B0609020204030204" pitchFamily="49" charset="0"/>
              </a:rPr>
              <a:t>"yyyy-MM-dd"</a:t>
            </a:r>
            <a:r>
              <a:rPr lang="en-US" sz="2130" dirty="0">
                <a:latin typeface="Consolas" panose="020B0609020204030204" pitchFamily="49" charset="0"/>
              </a:rPr>
              <a:t>), </a:t>
            </a:r>
            <a:r>
              <a:rPr lang="en-US" sz="2130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2130" dirty="0">
                <a:latin typeface="Consolas" panose="020B0609020204030204" pitchFamily="49" charset="0"/>
              </a:rPr>
              <a:t>);</a:t>
            </a:r>
          </a:p>
          <a:p>
            <a:pPr marL="101596" indent="0">
              <a:buNone/>
            </a:pPr>
            <a:r>
              <a:rPr lang="en-IN" sz="14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</a:p>
          <a:p>
            <a:pPr marL="101596" indent="0">
              <a:buNone/>
            </a:pPr>
            <a:r>
              <a:rPr lang="en-IN" sz="213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IN" sz="213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binder</a:t>
            </a:r>
            <a:r>
              <a:rPr lang="en-IN" sz="2130" dirty="0" smtClean="0">
                <a:latin typeface="Consolas" panose="020B0609020204030204" pitchFamily="49" charset="0"/>
              </a:rPr>
              <a:t>.registerCustomEditor(Date.</a:t>
            </a:r>
            <a:r>
              <a:rPr lang="en-IN" sz="2130" dirty="0" smtClean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IN" sz="2130" dirty="0">
                <a:latin typeface="Consolas" panose="020B0609020204030204" pitchFamily="49" charset="0"/>
              </a:rPr>
              <a:t>, </a:t>
            </a:r>
            <a:r>
              <a:rPr lang="en-IN" sz="2130" dirty="0">
                <a:solidFill>
                  <a:srgbClr val="6A3E3E"/>
                </a:solidFill>
                <a:latin typeface="Consolas" panose="020B0609020204030204" pitchFamily="49" charset="0"/>
              </a:rPr>
              <a:t>editor</a:t>
            </a:r>
            <a:r>
              <a:rPr lang="en-IN" sz="2130" dirty="0">
                <a:latin typeface="Consolas" panose="020B0609020204030204" pitchFamily="49" charset="0"/>
              </a:rPr>
              <a:t>);</a:t>
            </a:r>
          </a:p>
          <a:p>
            <a:pPr marL="101596" indent="0"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101596" indent="0">
              <a:buNone/>
            </a:pPr>
            <a:r>
              <a:rPr lang="en-IN" sz="2130" dirty="0">
                <a:latin typeface="Consolas" panose="020B0609020204030204" pitchFamily="49" charset="0"/>
              </a:rPr>
              <a:t>}</a:t>
            </a:r>
            <a:r>
              <a:rPr lang="en-IN" sz="2130" dirty="0">
                <a:solidFill>
                  <a:srgbClr val="3F7F5F"/>
                </a:solidFill>
                <a:latin typeface="Consolas" panose="020B0609020204030204" pitchFamily="49" charset="0"/>
              </a:rPr>
              <a:t>// End of initBinder()</a:t>
            </a:r>
            <a:endParaRPr lang="en-IN" sz="2130" u="sng" dirty="0" smtClean="0">
              <a:solidFill>
                <a:schemeClr val="tx1"/>
              </a:solidFill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342460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63337"/>
            <a:ext cx="6730423" cy="523220"/>
          </a:xfrm>
        </p:spPr>
        <p:txBody>
          <a:bodyPr/>
          <a:lstStyle/>
          <a:p>
            <a:r>
              <a:rPr lang="en-US" sz="3400" dirty="0" smtClean="0"/>
              <a:t>Exception Handling	</a:t>
            </a:r>
            <a:endParaRPr lang="en-IN" sz="3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25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There are 3 ways to handle exception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US" dirty="0"/>
              <a:t>Using @ExceptionHandler in @Controller Class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US" dirty="0"/>
              <a:t>Using @ExceptionHandler in @ControllerAdvice Class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US" dirty="0"/>
              <a:t>Using </a:t>
            </a:r>
            <a:r>
              <a:rPr lang="en-US" altLang="en-US" sz="2000" dirty="0">
                <a:solidFill>
                  <a:schemeClr val="tx1"/>
                </a:solidFill>
                <a:latin typeface="Arial Unicode MS"/>
              </a:rPr>
              <a:t>SimpleMappingExceptionResolver Class</a:t>
            </a:r>
          </a:p>
          <a:p>
            <a:endParaRPr lang="en-US" dirty="0"/>
          </a:p>
          <a:p>
            <a:r>
              <a:rPr lang="en-US" dirty="0" smtClean="0"/>
              <a:t>If we use @ExceptionHandler to a method in Controller class then if any exception occur in that class this method will be executed. We can specify what type of exception it should accept in @ExceptionHandler</a:t>
            </a:r>
          </a:p>
          <a:p>
            <a:endParaRPr lang="en-US" dirty="0" smtClean="0"/>
          </a:p>
          <a:p>
            <a:r>
              <a:rPr lang="en-US" dirty="0" smtClean="0"/>
              <a:t>If we create another with @ControllerAdvice and create a method with @ExceptionHandler then it will accept exception from any controller.</a:t>
            </a:r>
            <a:r>
              <a:rPr lang="en-US" dirty="0"/>
              <a:t> We can specify what type of exception it should accept in @ExceptionHandler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If we configure SimpleMappingExceptionResolver then it’s a generic exception handler and the specified jsp will be executed for all the exception</a:t>
            </a:r>
          </a:p>
        </p:txBody>
      </p:sp>
    </p:spTree>
    <p:extLst>
      <p:ext uri="{BB962C8B-B14F-4D97-AF65-F5344CB8AC3E}">
        <p14:creationId xmlns:p14="http://schemas.microsoft.com/office/powerpoint/2010/main" val="3899008756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37720"/>
            <a:ext cx="6730423" cy="574453"/>
          </a:xfrm>
        </p:spPr>
        <p:txBody>
          <a:bodyPr/>
          <a:lstStyle/>
          <a:p>
            <a:r>
              <a:rPr lang="en-US" dirty="0" smtClean="0"/>
              <a:t>JPA integration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26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Create persistence.xml file in </a:t>
            </a:r>
            <a:r>
              <a:rPr lang="en-US" dirty="0" err="1" smtClean="0"/>
              <a:t>src</a:t>
            </a:r>
            <a:r>
              <a:rPr lang="en-US" dirty="0" smtClean="0"/>
              <a:t>/main/resource/META-INF/</a:t>
            </a:r>
          </a:p>
          <a:p>
            <a:endParaRPr lang="en-US" dirty="0" smtClean="0"/>
          </a:p>
          <a:p>
            <a:r>
              <a:rPr lang="en-US" dirty="0" smtClean="0"/>
              <a:t>Create persistence classes with @Entity and @Table annotation </a:t>
            </a:r>
          </a:p>
          <a:p>
            <a:endParaRPr lang="en-US" dirty="0" smtClean="0"/>
          </a:p>
          <a:p>
            <a:r>
              <a:rPr lang="en-US" dirty="0" smtClean="0"/>
              <a:t>Create configuration class which has bean method returns object of </a:t>
            </a:r>
            <a:r>
              <a:rPr lang="en-US" dirty="0" err="1" smtClean="0"/>
              <a:t>LocalEntityManagerFactoryBean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Set the persistence-unit to the </a:t>
            </a:r>
            <a:r>
              <a:rPr lang="en-US" dirty="0" err="1" smtClean="0"/>
              <a:t>LocalEntityManagerFactoryBean</a:t>
            </a:r>
            <a:r>
              <a:rPr lang="en-US" dirty="0" smtClean="0"/>
              <a:t> in the factory method before returning the object</a:t>
            </a:r>
          </a:p>
          <a:p>
            <a:endParaRPr lang="en-US" dirty="0" smtClean="0"/>
          </a:p>
          <a:p>
            <a:r>
              <a:rPr lang="en-US" dirty="0" smtClean="0"/>
              <a:t>Create a reference variable of </a:t>
            </a:r>
            <a:r>
              <a:rPr lang="en-US" dirty="0" err="1" smtClean="0"/>
              <a:t>EntityManagerFactory</a:t>
            </a:r>
            <a:r>
              <a:rPr lang="en-US" dirty="0" smtClean="0"/>
              <a:t> in </a:t>
            </a:r>
            <a:r>
              <a:rPr lang="en-US" dirty="0" err="1" smtClean="0"/>
              <a:t>dao</a:t>
            </a:r>
            <a:r>
              <a:rPr lang="en-US" dirty="0" smtClean="0"/>
              <a:t> and annotate that with @</a:t>
            </a:r>
            <a:r>
              <a:rPr lang="en-US" dirty="0" err="1" smtClean="0"/>
              <a:t>PersistenceUnit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To get </a:t>
            </a:r>
            <a:r>
              <a:rPr lang="en-US" dirty="0" err="1" smtClean="0"/>
              <a:t>EntityManager</a:t>
            </a:r>
            <a:r>
              <a:rPr lang="en-US" dirty="0" smtClean="0"/>
              <a:t> </a:t>
            </a:r>
            <a:r>
              <a:rPr lang="en-US" smtClean="0"/>
              <a:t>directly, create </a:t>
            </a:r>
            <a:r>
              <a:rPr lang="en-US" dirty="0" smtClean="0"/>
              <a:t>a bean for </a:t>
            </a:r>
            <a:r>
              <a:rPr lang="en-US" dirty="0" err="1" smtClean="0"/>
              <a:t>JpaTransactionManager</a:t>
            </a:r>
            <a:r>
              <a:rPr lang="en-US" dirty="0" smtClean="0"/>
              <a:t> and wire the </a:t>
            </a:r>
            <a:r>
              <a:rPr lang="en-US" dirty="0" err="1" smtClean="0"/>
              <a:t>LocalEntityManagerFactoryBean</a:t>
            </a:r>
            <a:r>
              <a:rPr lang="en-US" dirty="0" smtClean="0"/>
              <a:t> in to it with the property </a:t>
            </a:r>
            <a:r>
              <a:rPr lang="en-US" dirty="0" err="1" smtClean="0"/>
              <a:t>entityManagerFactory</a:t>
            </a:r>
            <a:r>
              <a:rPr lang="en-US" dirty="0" smtClean="0"/>
              <a:t> and create a reference for </a:t>
            </a:r>
            <a:r>
              <a:rPr lang="en-US" dirty="0" err="1" smtClean="0"/>
              <a:t>EntityManager</a:t>
            </a:r>
            <a:r>
              <a:rPr lang="en-US" dirty="0" smtClean="0"/>
              <a:t> in DAO and annotate that with @</a:t>
            </a:r>
            <a:r>
              <a:rPr lang="en-US" dirty="0" err="1" smtClean="0"/>
              <a:t>PersistenceContaxt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72223690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Hibernate Integration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27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Create a bean for </a:t>
            </a:r>
            <a:r>
              <a:rPr lang="en-US" dirty="0" err="1" smtClean="0"/>
              <a:t>BasicDataSource</a:t>
            </a:r>
            <a:r>
              <a:rPr lang="en-US" dirty="0" smtClean="0"/>
              <a:t> and set all the </a:t>
            </a:r>
            <a:r>
              <a:rPr lang="en-US" dirty="0" err="1" smtClean="0"/>
              <a:t>db</a:t>
            </a:r>
            <a:r>
              <a:rPr lang="en-US" dirty="0" smtClean="0"/>
              <a:t> properties like Driver class name, </a:t>
            </a:r>
            <a:r>
              <a:rPr lang="en-US" dirty="0" err="1" smtClean="0"/>
              <a:t>db-url</a:t>
            </a:r>
            <a:r>
              <a:rPr lang="en-US" dirty="0" smtClean="0"/>
              <a:t>, username, password</a:t>
            </a:r>
          </a:p>
          <a:p>
            <a:endParaRPr lang="en-US" dirty="0" smtClean="0"/>
          </a:p>
          <a:p>
            <a:r>
              <a:rPr lang="en-US" dirty="0" smtClean="0"/>
              <a:t>Create a bean </a:t>
            </a:r>
            <a:r>
              <a:rPr lang="en-US" dirty="0" err="1" smtClean="0"/>
              <a:t>LocalSessionFactoryBean</a:t>
            </a:r>
            <a:r>
              <a:rPr lang="en-US" dirty="0" smtClean="0"/>
              <a:t> and wire </a:t>
            </a:r>
            <a:r>
              <a:rPr lang="en-US" dirty="0" err="1" smtClean="0"/>
              <a:t>DataSource</a:t>
            </a:r>
            <a:r>
              <a:rPr lang="en-US" dirty="0" smtClean="0"/>
              <a:t> object</a:t>
            </a:r>
            <a:r>
              <a:rPr lang="en-IN" dirty="0" smtClean="0"/>
              <a:t> and set the </a:t>
            </a:r>
            <a:r>
              <a:rPr lang="en-IN" dirty="0" err="1" smtClean="0"/>
              <a:t>hibernateProperties</a:t>
            </a:r>
            <a:r>
              <a:rPr lang="en-IN" dirty="0" smtClean="0"/>
              <a:t> property which is of the type prop</a:t>
            </a:r>
          </a:p>
          <a:p>
            <a:endParaRPr lang="en-IN" dirty="0" smtClean="0"/>
          </a:p>
          <a:p>
            <a:r>
              <a:rPr lang="en-US" dirty="0" smtClean="0"/>
              <a:t>Create </a:t>
            </a:r>
            <a:r>
              <a:rPr lang="en-US" dirty="0" err="1" smtClean="0"/>
              <a:t>HibernateTransactionManager</a:t>
            </a:r>
            <a:r>
              <a:rPr lang="en-US" dirty="0" smtClean="0"/>
              <a:t> bean and wire </a:t>
            </a:r>
            <a:r>
              <a:rPr lang="en-US" dirty="0" err="1" smtClean="0"/>
              <a:t>SessionFactory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Create a reference of </a:t>
            </a:r>
            <a:r>
              <a:rPr lang="en-US" dirty="0" err="1" smtClean="0"/>
              <a:t>SessionFactory</a:t>
            </a:r>
            <a:r>
              <a:rPr lang="en-US" dirty="0" smtClean="0"/>
              <a:t> and </a:t>
            </a:r>
            <a:r>
              <a:rPr lang="en-US" dirty="0" err="1" smtClean="0"/>
              <a:t>autowire</a:t>
            </a:r>
            <a:r>
              <a:rPr lang="en-US" dirty="0" smtClean="0"/>
              <a:t> it in </a:t>
            </a:r>
            <a:r>
              <a:rPr lang="en-US" dirty="0" err="1" smtClean="0"/>
              <a:t>dao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Operate on </a:t>
            </a:r>
            <a:r>
              <a:rPr lang="en-US" dirty="0" err="1" smtClean="0"/>
              <a:t>sessionFactory</a:t>
            </a:r>
            <a:r>
              <a:rPr lang="en-US" dirty="0" smtClean="0"/>
              <a:t> object</a:t>
            </a:r>
          </a:p>
        </p:txBody>
      </p:sp>
    </p:spTree>
    <p:extLst>
      <p:ext uri="{BB962C8B-B14F-4D97-AF65-F5344CB8AC3E}">
        <p14:creationId xmlns:p14="http://schemas.microsoft.com/office/powerpoint/2010/main" val="3735012847"/>
      </p:ext>
    </p:extLst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5FE59A5-F4B4-47F3-8C4B-BD6C0C97D865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95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YSS_2019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A692904-7DD0-4B3D-BF46-9B766DB95F27}" vid="{D00B10FD-57D4-47B0-A782-19711B3275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TYSS_2019</Template>
  <TotalTime>10858</TotalTime>
  <Words>1253</Words>
  <Application>Microsoft Office PowerPoint</Application>
  <PresentationFormat>Widescreen</PresentationFormat>
  <Paragraphs>399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 Unicode MS</vt:lpstr>
      <vt:lpstr>Arial</vt:lpstr>
      <vt:lpstr>Arvo</vt:lpstr>
      <vt:lpstr>Calibri</vt:lpstr>
      <vt:lpstr>Consolas</vt:lpstr>
      <vt:lpstr>Roboto Condensed</vt:lpstr>
      <vt:lpstr>Wingdings</vt:lpstr>
      <vt:lpstr>TYSS_2019</vt:lpstr>
      <vt:lpstr> Spring MVC</vt:lpstr>
      <vt:lpstr>MVC (Model-View-Controller)</vt:lpstr>
      <vt:lpstr>MVC (Model-View-Controller)…</vt:lpstr>
      <vt:lpstr>Front-Controller MVC</vt:lpstr>
      <vt:lpstr>DispatcherServlet</vt:lpstr>
      <vt:lpstr>DispatcherServlet…</vt:lpstr>
      <vt:lpstr>DispatcherServlet…</vt:lpstr>
      <vt:lpstr>Configuring DispatcherServlet</vt:lpstr>
      <vt:lpstr>Configuring DispatcherServlet…</vt:lpstr>
      <vt:lpstr>Configuring base package</vt:lpstr>
      <vt:lpstr>Configuring base package…</vt:lpstr>
      <vt:lpstr>Controller</vt:lpstr>
      <vt:lpstr>Handlers (Controller Methods)</vt:lpstr>
      <vt:lpstr>Getting form data in Controller</vt:lpstr>
      <vt:lpstr>Getting form data in Controller…</vt:lpstr>
      <vt:lpstr>Getting form data in Controller…</vt:lpstr>
      <vt:lpstr>Getting form data in Controller…</vt:lpstr>
      <vt:lpstr>Forward</vt:lpstr>
      <vt:lpstr>Redirect</vt:lpstr>
      <vt:lpstr>Cookie</vt:lpstr>
      <vt:lpstr>Session Attribute</vt:lpstr>
      <vt:lpstr>Reading Property File</vt:lpstr>
      <vt:lpstr>Reading Property File…</vt:lpstr>
      <vt:lpstr>Path Parameter</vt:lpstr>
      <vt:lpstr>Handling / Binding Date</vt:lpstr>
      <vt:lpstr>Exception Handling </vt:lpstr>
      <vt:lpstr>JPA integration</vt:lpstr>
      <vt:lpstr>Hibernate Integration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Sudhanshu;Sudhanshu Waranthe;TYP995</dc:creator>
  <cp:keywords>spring;springMVC</cp:keywords>
  <cp:lastModifiedBy>Rahul</cp:lastModifiedBy>
  <cp:revision>1071</cp:revision>
  <cp:lastPrinted>2019-04-15T13:18:47Z</cp:lastPrinted>
  <dcterms:created xsi:type="dcterms:W3CDTF">2019-02-12T10:18:40Z</dcterms:created>
  <dcterms:modified xsi:type="dcterms:W3CDTF">2020-02-29T13:11:28Z</dcterms:modified>
</cp:coreProperties>
</file>